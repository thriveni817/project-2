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A10B-7B53-969C-0136-F95FAF2EF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49316-921F-893E-49D0-37787804F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30A0D-17FB-289B-4D75-6173DE1E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E002D-7D02-4F41-506E-9AA96B0E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44E6-68CC-AF4C-6D32-999B45E9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4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9054-FC59-0953-2F75-0812A691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D8AD-0A53-F1B2-304A-0B7891069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7DD94-6024-8F66-654C-B04034A6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25A69-0B08-B335-885A-560D5DF2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AF9EB-5B88-88B3-C3AD-8576C807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552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138A7-3F62-9CAD-A504-0E1F1F38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CC726-79FF-9382-D8DD-4740FC49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574A9-F94B-F23C-395A-22FFE2DC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C9992-9553-9236-AC3E-6E0E1868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ABF85-8974-3A4D-46FB-DEA6C7BE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9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06F4-BBFB-AA10-8E1F-3AC205E9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958B-AAD9-2238-B44F-092527010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C92E0-E038-5D10-3069-3F377CD4E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01201-E7AB-CE38-D16C-13721CD6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0AA22-46A6-A02B-6B7A-CEB8278D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5A663-1ADA-5869-621B-7309462A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60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E5EE-07DA-83F4-B582-F9A870B3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1CA36-0E6D-255C-90FE-16EEEF459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13D68-4B01-634F-0C17-C474466FC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B6F3E-40FC-ABE3-4F82-31162416B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F430D-3684-3D2E-668A-7EBA5F829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23C31-2A39-B72C-CA01-531CFC73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D2C2-83FD-4A8F-9CD0-0AFE2FEA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978FF-3F98-12D7-5231-046378CB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44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E8E5-7531-1DA1-E45F-97E489A8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686AD-2D21-284D-7CF4-3A7312A7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42CA4-5647-29D1-2AF6-D8B7513E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D0707-E75D-91E2-585C-FD41526C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35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A5C2D-00C9-7ADD-017C-F89D3297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0C28C-A639-80B3-3D7B-9837DB4B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E1B8E-0B89-2B2C-FFAB-5A8D4D3F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05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BE74-06A2-0B1A-959A-C120CD12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285D-A700-DA30-CCBE-D468F7BC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93561-A0E6-2660-467B-6E64B9F51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A22E3-3D0D-CDAF-DC87-B9F18272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5F055-36E7-CE03-2272-F85B6404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03690-51A9-F844-9E5A-03661A5F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59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0DE1-57C7-AA7F-E80A-6A766121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1BB8-2F95-06CD-C60D-5DC268CA8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F4C12-85F9-E198-C53D-77907E86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B0CDD-4A8D-7369-2B37-692DCBC4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0F304-D7F0-AC9F-2832-9AFE49E8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84DD4-CD1D-4F81-1CB7-330B5B10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7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3253-6CD9-7066-67C1-A3DCE0B4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D800E-8C22-8A98-92A0-52075A5AE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BA8F4-0455-815A-B231-DC41EDB1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6D8E-1327-13F3-B4D2-640C1A3E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B27F-211E-17DF-1836-2F8C83A2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6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EE774-A7FD-1CEC-98A5-E6F510B39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EF376-8FFA-DCCA-D854-16E2AFE59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6C76-5A59-1965-5FBF-2C649637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EAE61-86A7-4AD9-EC53-563FA326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47CE3-DBAF-B1CE-3277-859F4617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7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4BF-A95F-5626-F428-DD24DDA2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AABDE-CABC-8157-EF13-963C0749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E2F44-1111-1255-7775-7949A19BC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9F2CC-FBD0-49E5-87CA-2D0BEFCA1592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AD23E-282C-5F80-B2EF-2041E4869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7D34-61FC-1542-F4DF-0C448AE33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FB42A-E523-423B-8BFB-95D0EF284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B863-4720-D64B-6980-7419EFE3A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46" y="1"/>
            <a:ext cx="12076253" cy="2546430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PowerPoint Client Review Presentation.</a:t>
            </a:r>
            <a:br>
              <a:rPr lang="en-IN" b="1" u="sng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C07D7-E643-3403-372D-75521CEC9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5" y="1215341"/>
            <a:ext cx="11829327" cy="547482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4000" b="1" u="sng" dirty="0"/>
              <a:t>Executive Summary: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dirty="0"/>
              <a:t>High-level KPIs ,Spend, Conversions, ROAS at a glance.</a:t>
            </a:r>
          </a:p>
          <a:p>
            <a:pPr algn="l"/>
            <a:endParaRPr lang="en-IN" sz="4000" b="1" u="sng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IN" sz="4000" b="1" u="sng" dirty="0"/>
              <a:t>The Big Picture: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sz="4000" dirty="0"/>
              <a:t>Visualization of budget utilization over the month.</a:t>
            </a:r>
          </a:p>
          <a:p>
            <a:pPr algn="l"/>
            <a:endParaRPr lang="en-IN" sz="4000" b="1" u="sng" dirty="0"/>
          </a:p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IN" sz="4000" b="1" u="sng" dirty="0"/>
              <a:t>Where Are We Winning:</a:t>
            </a:r>
          </a:p>
        </p:txBody>
      </p:sp>
    </p:spTree>
    <p:extLst>
      <p:ext uri="{BB962C8B-B14F-4D97-AF65-F5344CB8AC3E}">
        <p14:creationId xmlns:p14="http://schemas.microsoft.com/office/powerpoint/2010/main" val="330679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D8557-AC50-395C-4859-F929344EE953}"/>
              </a:ext>
            </a:extLst>
          </p:cNvPr>
          <p:cNvSpPr txBox="1"/>
          <p:nvPr/>
        </p:nvSpPr>
        <p:spPr>
          <a:xfrm>
            <a:off x="92597" y="81023"/>
            <a:ext cx="904850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High-performing keywords, ad groups, and target audiences.</a:t>
            </a:r>
          </a:p>
          <a:p>
            <a:endParaRPr lang="en-IN" sz="4000" dirty="0"/>
          </a:p>
          <a:p>
            <a:r>
              <a:rPr lang="en-IN" sz="4000" b="1" u="sng" dirty="0"/>
              <a:t>Where We Are Losing Money: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Underperforming creatives and wasted spend areas.</a:t>
            </a:r>
          </a:p>
          <a:p>
            <a:endParaRPr lang="en-IN" sz="4000" b="1" u="sng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b="1" u="sng" dirty="0"/>
              <a:t>Actionable Recommendations: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Your immediate fixes to maximize ROI.</a:t>
            </a:r>
            <a:endParaRPr lang="en-IN" sz="4000" b="1" u="sng" dirty="0"/>
          </a:p>
          <a:p>
            <a:endParaRPr lang="en-IN" sz="4000" b="1" u="sng" dirty="0"/>
          </a:p>
        </p:txBody>
      </p:sp>
    </p:spTree>
    <p:extLst>
      <p:ext uri="{BB962C8B-B14F-4D97-AF65-F5344CB8AC3E}">
        <p14:creationId xmlns:p14="http://schemas.microsoft.com/office/powerpoint/2010/main" val="682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14DD6E-59BD-33BD-E1A2-B6676549AD22}"/>
              </a:ext>
            </a:extLst>
          </p:cNvPr>
          <p:cNvSpPr txBox="1"/>
          <p:nvPr/>
        </p:nvSpPr>
        <p:spPr>
          <a:xfrm>
            <a:off x="0" y="81023"/>
            <a:ext cx="9141106" cy="901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000" b="1" u="sng" dirty="0"/>
              <a:t>Next Month's Strategy: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The proposed roadmap for the upcoming period.</a:t>
            </a:r>
          </a:p>
          <a:p>
            <a:endParaRPr lang="en-IN" sz="4000" dirty="0"/>
          </a:p>
          <a:p>
            <a:r>
              <a:rPr lang="en-IN" sz="3600" b="1" dirty="0"/>
              <a:t>1. </a:t>
            </a:r>
            <a:r>
              <a:rPr lang="en-IN" sz="3600" b="1" u="sng" dirty="0"/>
              <a:t>Campaign Summary: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Top Performing Campaign:</a:t>
            </a:r>
            <a:r>
              <a:rPr lang="en-IN" sz="3200" dirty="0"/>
              <a:t> Smart Home – Search drove 65% of all conversions.</a:t>
            </a:r>
          </a:p>
          <a:p>
            <a:endParaRPr lang="en-IN" sz="3200" dirty="0"/>
          </a:p>
          <a:p>
            <a:r>
              <a:rPr lang="en-IN" sz="3600" b="1" dirty="0"/>
              <a:t>2. </a:t>
            </a:r>
            <a:r>
              <a:rPr lang="en-IN" sz="3600" b="1" u="sng" dirty="0"/>
              <a:t>Keyword Performance: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Top Converting Keyword:</a:t>
            </a:r>
            <a:r>
              <a:rPr lang="en-IN" sz="3200" dirty="0"/>
              <a:t> Smart home automation system 55 Conversions.</a:t>
            </a:r>
            <a:endParaRPr lang="en-IN" sz="3200" u="sng" dirty="0"/>
          </a:p>
          <a:p>
            <a:endParaRPr lang="en-IN" sz="3600" b="1" u="sng" dirty="0"/>
          </a:p>
          <a:p>
            <a:endParaRPr lang="en-IN" sz="3200" dirty="0"/>
          </a:p>
          <a:p>
            <a:endParaRPr lang="en-IN" sz="4000" dirty="0"/>
          </a:p>
          <a:p>
            <a:endParaRPr lang="en-IN" sz="4000" b="1" u="sng" dirty="0"/>
          </a:p>
          <a:p>
            <a:endParaRPr lang="en-IN" sz="4000" b="1" u="sng" dirty="0"/>
          </a:p>
        </p:txBody>
      </p:sp>
    </p:spTree>
    <p:extLst>
      <p:ext uri="{BB962C8B-B14F-4D97-AF65-F5344CB8AC3E}">
        <p14:creationId xmlns:p14="http://schemas.microsoft.com/office/powerpoint/2010/main" val="36421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A8D772-2B8E-D9F1-DFBA-6C8626EE19A9}"/>
              </a:ext>
            </a:extLst>
          </p:cNvPr>
          <p:cNvSpPr txBox="1"/>
          <p:nvPr/>
        </p:nvSpPr>
        <p:spPr>
          <a:xfrm>
            <a:off x="104172" y="104172"/>
            <a:ext cx="9361026" cy="1041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3600" b="1" strike="noStrike" dirty="0">
                <a:effectLst/>
                <a:latin typeface="Google Sans"/>
              </a:rPr>
              <a:t>3. </a:t>
            </a:r>
            <a:r>
              <a:rPr lang="en-IN" sz="3600" b="1" u="sng" strike="noStrike" dirty="0">
                <a:effectLst/>
                <a:latin typeface="Google Sans"/>
              </a:rPr>
              <a:t>Ad Performance:</a:t>
            </a:r>
          </a:p>
          <a:p>
            <a:pPr marL="571500" indent="-571500">
              <a:spcBef>
                <a:spcPts val="18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Highest Impression Ad Asset : </a:t>
            </a:r>
            <a:r>
              <a:rPr lang="en-IN" sz="3600" dirty="0"/>
              <a:t>Image Extension Living room display.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3600" b="1" dirty="0"/>
              <a:t>4. </a:t>
            </a:r>
            <a:r>
              <a:rPr lang="en-IN" sz="3600" b="1" u="sng" dirty="0"/>
              <a:t>Clicks &amp; Impressions:</a:t>
            </a:r>
          </a:p>
          <a:p>
            <a:pPr marL="571500" indent="-571500">
              <a:spcBef>
                <a:spcPts val="18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Average Daily Spend Pattern:</a:t>
            </a:r>
            <a:r>
              <a:rPr lang="en-IN" sz="3600" dirty="0"/>
              <a:t>Consistent per day with spikes on Tuesday and Thursday afternoons.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3600" b="1" dirty="0"/>
              <a:t>5. </a:t>
            </a:r>
            <a:r>
              <a:rPr lang="en-IN" sz="3600" b="1" u="sng" dirty="0"/>
              <a:t>CTR &amp; CPC Analysis: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3600" b="1" u="sng" dirty="0"/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3600" b="1" u="sng" dirty="0"/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3600" b="1" u="sng" strike="noStrike" dirty="0">
              <a:effectLst/>
              <a:latin typeface="Google Sans"/>
            </a:endParaRP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endParaRPr lang="en-IN" sz="3600" b="1" u="none" strike="noStrike" dirty="0">
              <a:effectLst/>
              <a:latin typeface="Google Sans"/>
            </a:endParaRP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endParaRPr lang="en-IN" sz="3600" b="1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32339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3E4DC-2FD9-4B40-C64F-CCF870371F91}"/>
              </a:ext>
            </a:extLst>
          </p:cNvPr>
          <p:cNvSpPr txBox="1"/>
          <p:nvPr/>
        </p:nvSpPr>
        <p:spPr>
          <a:xfrm>
            <a:off x="0" y="92597"/>
            <a:ext cx="9141106" cy="807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b="1" u="none" strike="noStrike" dirty="0">
                <a:effectLst/>
                <a:latin typeface="Google Sans"/>
              </a:rPr>
              <a:t>Insight:</a:t>
            </a:r>
            <a:r>
              <a:rPr lang="en-IN" sz="3600" b="0" u="none" strike="noStrike" dirty="0">
                <a:effectLst/>
                <a:latin typeface="Google Sans"/>
              </a:rPr>
              <a:t> Branded search CTR is high, while Display Network CTR is low , dragging the overall average down.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sz="3600" b="1" dirty="0"/>
              <a:t>6. </a:t>
            </a:r>
            <a:r>
              <a:rPr lang="en-IN" sz="3600" b="1" u="sng" dirty="0"/>
              <a:t>Conversion Analysis: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Conversion Path Insight:</a:t>
            </a:r>
            <a:r>
              <a:rPr lang="en-IN" sz="3600" dirty="0"/>
              <a:t> 60% of users convert on their 2nd touchpoint.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sz="3600" b="1" dirty="0"/>
              <a:t>7. </a:t>
            </a:r>
            <a:r>
              <a:rPr lang="en-IN" sz="3600" b="1" u="sng" dirty="0"/>
              <a:t>Budget Utilization: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b="1" dirty="0"/>
              <a:t>Pacing Status:</a:t>
            </a:r>
            <a:r>
              <a:rPr lang="en-IN" sz="3600" dirty="0"/>
              <a:t> On track.</a:t>
            </a:r>
            <a:endParaRPr lang="en-IN" sz="3600" b="1" u="sng" dirty="0"/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sz="3600" b="1" dirty="0"/>
              <a:t>8. </a:t>
            </a:r>
            <a:r>
              <a:rPr lang="en-IN" sz="3600" b="1" u="sng" dirty="0"/>
              <a:t>ROI Summary: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endParaRPr lang="en-IN" sz="3600" b="1" u="sng" dirty="0"/>
          </a:p>
          <a:p>
            <a:pPr marR="0">
              <a:spcBef>
                <a:spcPts val="900"/>
              </a:spcBef>
              <a:spcAft>
                <a:spcPts val="1200"/>
              </a:spcAft>
            </a:pPr>
            <a:endParaRPr lang="en-IN" sz="36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66058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6E9CC-4441-8A6C-A538-5BFCD0DA2D70}"/>
              </a:ext>
            </a:extLst>
          </p:cNvPr>
          <p:cNvSpPr txBox="1"/>
          <p:nvPr/>
        </p:nvSpPr>
        <p:spPr>
          <a:xfrm>
            <a:off x="115747" y="254644"/>
            <a:ext cx="9025359" cy="889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b="1" u="none" strike="noStrike" dirty="0">
                <a:effectLst/>
                <a:latin typeface="Google Sans"/>
              </a:rPr>
              <a:t>Verdict:</a:t>
            </a:r>
            <a:r>
              <a:rPr lang="en-IN" sz="3600" b="0" u="none" strike="noStrike" dirty="0">
                <a:effectLst/>
                <a:latin typeface="Google Sans"/>
              </a:rPr>
              <a:t> Highly profitable campaign with strong revenue-generating keywords identified.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sz="3600" b="1" dirty="0"/>
              <a:t>9. </a:t>
            </a:r>
            <a:r>
              <a:rPr lang="en-IN" sz="3600" b="1" u="sng" dirty="0"/>
              <a:t>Optimization Recommendations: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dirty="0"/>
              <a:t>Pause Wasted Spend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dirty="0"/>
              <a:t>Ad Rotation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dirty="0"/>
              <a:t>Landing Page Test.</a:t>
            </a:r>
          </a:p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sz="3600" b="1" dirty="0"/>
              <a:t>10. </a:t>
            </a:r>
            <a:r>
              <a:rPr lang="en-IN" sz="3600" b="1" u="sng" dirty="0"/>
              <a:t>Next Month Action Plan:</a:t>
            </a:r>
          </a:p>
          <a:p>
            <a:pPr marL="571500" indent="-5715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3600" dirty="0"/>
              <a:t>The proposed roadmap for the upcoming period.</a:t>
            </a:r>
            <a:endParaRPr lang="en-IN" sz="3600" b="1" u="sng" dirty="0"/>
          </a:p>
          <a:p>
            <a:pPr>
              <a:spcBef>
                <a:spcPts val="900"/>
              </a:spcBef>
              <a:spcAft>
                <a:spcPts val="1200"/>
              </a:spcAft>
            </a:pPr>
            <a:endParaRPr lang="en-IN" sz="3600" b="1" u="sng" dirty="0"/>
          </a:p>
          <a:p>
            <a:pPr marR="0">
              <a:spcBef>
                <a:spcPts val="900"/>
              </a:spcBef>
              <a:spcAft>
                <a:spcPts val="1200"/>
              </a:spcAft>
            </a:pPr>
            <a:endParaRPr lang="en-IN" sz="36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307468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Wingdings</vt:lpstr>
      <vt:lpstr>Office Theme</vt:lpstr>
      <vt:lpstr>PowerPoint Client Review Presentation.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2026-07-21T12:31:38Z</dcterms:created>
  <dcterms:modified xsi:type="dcterms:W3CDTF">2026-07-21T12:41:42Z</dcterms:modified>
</cp:coreProperties>
</file>