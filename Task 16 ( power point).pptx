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0321E-9CB1-C308-34A6-FFF9D913B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3B528-8E43-5A2C-A977-25D09115B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D30DE-E10B-FF62-2E86-513331250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C3C4-3D51-428F-B0FE-1607C3BBC32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09F4D-B57E-F4D5-43E5-BE41DE08B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2EDAF-202C-909B-E60B-A0052F2F6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80A4-B071-4BDB-BD03-A46828087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008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9FEE5-7894-7DDF-88BB-BBF0F123E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475A1-18CC-64E2-D4C5-97B3D0BC5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23D03-4EC7-B4A8-5E10-3D5E9DAB8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C3C4-3D51-428F-B0FE-1607C3BBC32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64894-9222-D7E2-52F9-CFC49CC8F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D14F9-E77C-7877-1DA6-A2DE1D39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80A4-B071-4BDB-BD03-A46828087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438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6A0D7-1144-24CF-8B53-9B3BE4B68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A551F-748F-4EB4-DF06-EBE2FF38A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6D23C-7A80-30D1-5631-6CA6BCD1B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C3C4-3D51-428F-B0FE-1607C3BBC32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3776E-5256-8E69-8332-CA3CDCF2C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9A31E-B7E6-87D1-DC5E-2D90782F7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80A4-B071-4BDB-BD03-A46828087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08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51884-93B6-C370-7AC7-E1D8DE4C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2C8EC-F126-4E17-F844-5B153DCD93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606240-AC10-0C14-7DBB-464C3AD93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8F13B-6166-930C-5F33-B9BDC7A6A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C3C4-3D51-428F-B0FE-1607C3BBC32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5F879-117F-B7FC-90F2-8EE4EB410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B9969-3B44-DED1-0393-79189213D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80A4-B071-4BDB-BD03-A46828087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784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4E5EB-F800-5EE7-E9EB-1940FE6E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257BA-8E3E-0938-E30E-933008635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E9AE9-C9A8-50DA-9C73-7BAF4863E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046078-59FB-DFC2-C17C-21BECBC8C8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24B650-A5E1-A136-C7CD-1A2DE29151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61E9C-A9D4-7F9E-C031-569E6B6E1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C3C4-3D51-428F-B0FE-1607C3BBC32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F31E48-1C55-0419-DD66-13E3720C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D7E520-87F5-D7D2-56B3-3F0E128F9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80A4-B071-4BDB-BD03-A46828087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811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E0073-8C86-86E2-C15D-A3CD836D9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300393-62B2-6DA9-E1A7-34A5F04E0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C3C4-3D51-428F-B0FE-1607C3BBC32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E7E2CC-A04E-59E4-EF68-EA015555B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D68A7-0DF4-6267-7A98-D8DB904A7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80A4-B071-4BDB-BD03-A46828087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449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230BA5-FFAD-A090-DCBC-F750DCA80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C3C4-3D51-428F-B0FE-1607C3BBC32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CE01B0-B7C5-08AE-480A-AA143F0D6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4760F-B275-FDF3-B242-8740130A0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80A4-B071-4BDB-BD03-A46828087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46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D9C30-C1D7-FCB0-D8F4-929EE2EC3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81A4C-CA06-21C8-665A-0B4B23191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EB67C-C18A-A3CA-915C-5CEEC91F8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20CCC-760B-0C48-2682-BBDC8EEA4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C3C4-3D51-428F-B0FE-1607C3BBC32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0CC29-1265-9EF3-5C4C-6D25B7628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5F763-C866-B834-EE35-15EA1E8E7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80A4-B071-4BDB-BD03-A46828087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293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7AD0E-A463-632C-CA1B-675556D5C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D9275-A37F-5361-53D8-6F698BF86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6A9B1-D010-20AA-86AA-087E917C1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4CE4C-6C4A-1F48-147D-12DEF57F3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C3C4-3D51-428F-B0FE-1607C3BBC32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041DC-C815-58E4-89C2-C8836865E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9759D-B85D-F3BE-7092-FE3C283E1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80A4-B071-4BDB-BD03-A46828087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839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3D176-23B6-A3EE-E925-F2AFCED2C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EE3944-214A-1D7F-C889-72CF549B7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C17C9-CF52-4345-2298-5854356B1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C3C4-3D51-428F-B0FE-1607C3BBC32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2347D-D88B-6AEE-6FF8-AAA4D6D58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E8C9B-4084-C448-91C2-B5B71AE7E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80A4-B071-4BDB-BD03-A46828087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22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EEDBFD-A28F-B843-E84D-DEA9ED3A1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5AD594-50C6-349C-0953-293EF50EA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5AA7C-9980-134A-AC9E-D83EC571B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C3C4-3D51-428F-B0FE-1607C3BBC32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F72DF-F23D-4E8B-FD90-E29C704D3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0F0CB-A1B4-8D78-7490-AA57372F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980A4-B071-4BDB-BD03-A46828087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926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A5C64D-E2E0-0CE7-850A-E5DEB3D5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A5BF1-0B7C-EDFE-628B-76E70327D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AE26C-D497-D5EB-19E9-A09DF5EB3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1C3C4-3D51-428F-B0FE-1607C3BBC325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7930E-DBE1-44C4-7EFD-EE302EDCA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E0513-FEFD-9221-6744-96DB82280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980A4-B071-4BDB-BD03-A468280875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893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7ABF2-AF43-4DC7-8F7D-807FD0B20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423685"/>
          </a:xfrm>
        </p:spPr>
        <p:txBody>
          <a:bodyPr>
            <a:normAutofit/>
          </a:bodyPr>
          <a:lstStyle/>
          <a:p>
            <a:r>
              <a:rPr lang="en-IN" sz="5400" b="1" u="sng" dirty="0"/>
              <a:t>Executive Summary &amp;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595D0-D183-9197-693B-E41B44831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770928"/>
            <a:ext cx="12192000" cy="2789498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b="1" u="sng" dirty="0"/>
              <a:t>Objective:</a:t>
            </a:r>
            <a:r>
              <a:rPr lang="en-IN" u="sng" dirty="0"/>
              <a:t> </a:t>
            </a:r>
            <a:r>
              <a:rPr lang="en-IN" dirty="0"/>
              <a:t>Provide a high-level snapshot of website health and growth.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b="1" u="sng" dirty="0"/>
              <a:t>Total Users:</a:t>
            </a:r>
            <a:r>
              <a:rPr lang="en-IN" u="sng" dirty="0"/>
              <a:t> </a:t>
            </a:r>
            <a:r>
              <a:rPr lang="en-IN" dirty="0"/>
              <a:t>145,230 (15% Increase MoM) — Indicates overall audience reach.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b="1" u="sng" dirty="0"/>
              <a:t>Total Sessions:</a:t>
            </a:r>
            <a:r>
              <a:rPr lang="en-IN" u="sng" dirty="0"/>
              <a:t> </a:t>
            </a:r>
            <a:r>
              <a:rPr lang="en-IN" dirty="0"/>
              <a:t>189,450 (12% Increase MoM) — Tracks distinct visits to the website.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b="1" u="sng" dirty="0"/>
              <a:t>Key Takeaway:</a:t>
            </a:r>
            <a:r>
              <a:rPr lang="en-IN" u="sng" dirty="0"/>
              <a:t> </a:t>
            </a:r>
            <a:r>
              <a:rPr lang="en-IN" dirty="0"/>
              <a:t>Consistent MoM traffic growth, suggesting increased brand awareness and successful top-of-funnel reach.</a:t>
            </a:r>
          </a:p>
        </p:txBody>
      </p:sp>
    </p:spTree>
    <p:extLst>
      <p:ext uri="{BB962C8B-B14F-4D97-AF65-F5344CB8AC3E}">
        <p14:creationId xmlns:p14="http://schemas.microsoft.com/office/powerpoint/2010/main" val="1610032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D2376-5974-6B2F-5C6A-81F351049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u="sng" dirty="0"/>
              <a:t>Traffic Acquisition &amp;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483E0-FD5B-E35D-8403-2C2C43F65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4314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Objective:</a:t>
            </a:r>
            <a:r>
              <a:rPr lang="en-IN" u="sng" dirty="0"/>
              <a:t> </a:t>
            </a:r>
            <a:r>
              <a:rPr lang="en-IN" dirty="0"/>
              <a:t>Understand exactly how users discover your business.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Organic Search:</a:t>
            </a:r>
            <a:r>
              <a:rPr lang="en-IN" u="sng" dirty="0"/>
              <a:t> </a:t>
            </a:r>
            <a:r>
              <a:rPr lang="en-IN" dirty="0"/>
              <a:t>45% of total traffic (Strong SEO foundation).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Direct:</a:t>
            </a:r>
            <a:r>
              <a:rPr lang="en-IN" u="sng" dirty="0"/>
              <a:t> </a:t>
            </a:r>
            <a:r>
              <a:rPr lang="en-IN" dirty="0"/>
              <a:t>25% (Reflects established brand recall).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Paid &amp; Social:</a:t>
            </a:r>
            <a:r>
              <a:rPr lang="en-IN" u="sng" dirty="0"/>
              <a:t> </a:t>
            </a:r>
            <a:r>
              <a:rPr lang="en-IN" dirty="0"/>
              <a:t>20% (Primary drivers are Google Ads &amp; LinkedIn).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Referrals:</a:t>
            </a:r>
            <a:r>
              <a:rPr lang="en-IN" u="sng" dirty="0"/>
              <a:t> </a:t>
            </a:r>
            <a:r>
              <a:rPr lang="en-IN" dirty="0"/>
              <a:t>10% (Partnerships and external linking).</a:t>
            </a:r>
          </a:p>
        </p:txBody>
      </p:sp>
    </p:spTree>
    <p:extLst>
      <p:ext uri="{BB962C8B-B14F-4D97-AF65-F5344CB8AC3E}">
        <p14:creationId xmlns:p14="http://schemas.microsoft.com/office/powerpoint/2010/main" val="2618150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3B2C-4492-2D4E-03D3-F9315C2D8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b="1" u="sng" dirty="0"/>
              <a:t>Top Landing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0A34E-0B04-30B0-9BE2-F298BBDD1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579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Objective:</a:t>
            </a:r>
            <a:r>
              <a:rPr lang="en-IN" u="sng" dirty="0"/>
              <a:t> </a:t>
            </a:r>
            <a:r>
              <a:rPr lang="en-IN" dirty="0"/>
              <a:t>Identify the most effective entry points and content engagement 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Homepage:</a:t>
            </a:r>
            <a:r>
              <a:rPr lang="en-IN" u="sng" dirty="0"/>
              <a:t> </a:t>
            </a:r>
            <a:r>
              <a:rPr lang="en-IN" dirty="0"/>
              <a:t>55,000 Entrances | 52% Engagement Rate.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Product-Category-A:</a:t>
            </a:r>
            <a:r>
              <a:rPr lang="en-IN" u="sng" dirty="0"/>
              <a:t> </a:t>
            </a:r>
            <a:r>
              <a:rPr lang="en-IN" dirty="0"/>
              <a:t>25,000 Entrances.</a:t>
            </a:r>
            <a:endParaRPr lang="en-IN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Blog-Post-Best-Practices:</a:t>
            </a:r>
            <a:r>
              <a:rPr lang="en-IN" u="sng" dirty="0"/>
              <a:t> </a:t>
            </a:r>
            <a:r>
              <a:rPr lang="en-IN" dirty="0"/>
              <a:t>15,000 Entrances.</a:t>
            </a:r>
          </a:p>
        </p:txBody>
      </p:sp>
    </p:spTree>
    <p:extLst>
      <p:ext uri="{BB962C8B-B14F-4D97-AF65-F5344CB8AC3E}">
        <p14:creationId xmlns:p14="http://schemas.microsoft.com/office/powerpoint/2010/main" val="2135641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4A9DF-B4A5-12C0-EE7B-FC977C89B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b="1" u="sng" dirty="0"/>
              <a:t>User Engagement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3799-D9CE-F0E0-1964-1213DCCF1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579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Objective:</a:t>
            </a:r>
            <a:r>
              <a:rPr lang="en-IN" u="sng" dirty="0"/>
              <a:t> </a:t>
            </a:r>
            <a:r>
              <a:rPr lang="en-IN" dirty="0"/>
              <a:t>Measure how long and how effectively users interact with your content 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Average Engagement Time:</a:t>
            </a:r>
            <a:r>
              <a:rPr lang="en-IN" u="sng" dirty="0"/>
              <a:t> </a:t>
            </a:r>
            <a:r>
              <a:rPr lang="en-IN" dirty="0"/>
              <a:t>1m 45s.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Average Engagement Rate:</a:t>
            </a:r>
            <a:r>
              <a:rPr lang="en-IN" dirty="0"/>
              <a:t> 55% 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Bounce Rate:</a:t>
            </a:r>
            <a:r>
              <a:rPr lang="en-IN" dirty="0"/>
              <a:t> 45%.</a:t>
            </a:r>
          </a:p>
        </p:txBody>
      </p:sp>
    </p:spTree>
    <p:extLst>
      <p:ext uri="{BB962C8B-B14F-4D97-AF65-F5344CB8AC3E}">
        <p14:creationId xmlns:p14="http://schemas.microsoft.com/office/powerpoint/2010/main" val="864194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1941F-60D4-09E4-B9AB-9309210C4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6000" b="1" u="sng" dirty="0"/>
              <a:t>Conversion Events &amp; Funnel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6725A-FE76-7F52-223D-2C5F96029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7692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Objective:</a:t>
            </a:r>
            <a:r>
              <a:rPr lang="en-IN" u="sng" dirty="0"/>
              <a:t> </a:t>
            </a:r>
            <a:r>
              <a:rPr lang="en-IN" dirty="0"/>
              <a:t>Measure primary business objectives and key event completions 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Form Submissions (Leads):</a:t>
            </a:r>
            <a:r>
              <a:rPr lang="en-IN" u="sng" dirty="0"/>
              <a:t> </a:t>
            </a:r>
            <a:r>
              <a:rPr lang="en-IN" dirty="0"/>
              <a:t>4,200 .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Newsletter Sign-ups:</a:t>
            </a:r>
            <a:r>
              <a:rPr lang="en-IN" u="sng" dirty="0"/>
              <a:t> </a:t>
            </a:r>
            <a:r>
              <a:rPr lang="en-IN" dirty="0"/>
              <a:t>2,800.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u="sng" dirty="0"/>
              <a:t>E-commerce Purchases (if applicable):</a:t>
            </a:r>
            <a:r>
              <a:rPr lang="en-IN" u="sng" dirty="0"/>
              <a:t> </a:t>
            </a:r>
            <a:r>
              <a:rPr lang="en-IN" dirty="0"/>
              <a:t>1,500.</a:t>
            </a:r>
          </a:p>
        </p:txBody>
      </p:sp>
    </p:spTree>
    <p:extLst>
      <p:ext uri="{BB962C8B-B14F-4D97-AF65-F5344CB8AC3E}">
        <p14:creationId xmlns:p14="http://schemas.microsoft.com/office/powerpoint/2010/main" val="4046915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Executive Summary &amp; Overview</vt:lpstr>
      <vt:lpstr>Traffic Acquisition &amp; Sources</vt:lpstr>
      <vt:lpstr>Top Landing Pages</vt:lpstr>
      <vt:lpstr>User Engagement Analysis</vt:lpstr>
      <vt:lpstr>Conversion Events &amp; Funnel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AAKULA TEJESH</dc:creator>
  <cp:lastModifiedBy>AAKULA TEJESH</cp:lastModifiedBy>
  <cp:revision>1</cp:revision>
  <dcterms:created xsi:type="dcterms:W3CDTF">2026-07-13T13:07:37Z</dcterms:created>
  <dcterms:modified xsi:type="dcterms:W3CDTF">2026-07-13T13:07:54Z</dcterms:modified>
</cp:coreProperties>
</file>