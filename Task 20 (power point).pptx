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5" d="100"/>
          <a:sy n="55" d="100"/>
        </p:scale>
        <p:origin x="109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9124E0-5C39-4614-A7A6-7734DF818999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396341-46DA-4D70-A869-7EBCDA9805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3294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96341-46DA-4D70-A869-7EBCDA98057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5820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3EB8B-47DD-88FC-3886-ABBD1282D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76394F-1FAE-BF86-74A9-129A35DB3F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349D56-5100-87A8-62C6-93F3089A2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84FC-78FB-448F-AD90-36FB1B17444F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0F0BB-1DA8-6598-035E-036441FB7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23181A-41D8-40B7-685A-A54668B4C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9DF44-9EF8-4B31-8461-4C98E165E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4628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F6DF2-972C-A460-1942-0C5D12443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54E2E-E101-305A-FC38-2C60616E6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1EFE7-6D39-55B3-94EC-84C7D6FE8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84FC-78FB-448F-AD90-36FB1B17444F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2209BE-09E4-F456-1E92-CC0A43EC6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29D1A-A35E-F705-848A-82EB207BA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9DF44-9EF8-4B31-8461-4C98E165E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7667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E1AF1-BCE4-4310-6F19-FB28B8A8D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45D86D-B57C-EB90-A747-34DCF1EC1C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EBF5DE-69C6-D1FA-D1FC-22A8D10C6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84FC-78FB-448F-AD90-36FB1B17444F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56AD6-A568-FAE0-53C6-A0B5BBBAA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906E3-5235-F0ED-41FD-C08F5BAC9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9DF44-9EF8-4B31-8461-4C98E165E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1105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C1DB5-769A-05AA-48B9-A06C9F31B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5863C-3F32-06C5-49AA-34DB2B9D59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88A11C-DDF2-A9E9-DCED-690FB67153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A97E76-7824-7FB9-165A-A877AA70C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84FC-78FB-448F-AD90-36FB1B17444F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B46D34-DD67-2E79-EADB-997F96D11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D3BCB5-7FBA-D77D-3A51-05CE978EE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9DF44-9EF8-4B31-8461-4C98E165E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0356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1346D-242B-BE2B-AE58-F08890A5A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0A31F9-B5D8-39ED-CBCE-9B75BA0F8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892163-012D-F7A1-C08E-9B13392B7D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E442E0-128B-072A-4144-D583BFD5EF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6210A7-BD51-DAE9-0DB9-D5ED6A3B61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D8CD24-492F-9514-6D1E-2CD265D59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84FC-78FB-448F-AD90-36FB1B17444F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16FA30-49DE-1DA1-DAF4-BFABFCDF0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809885-46DF-8827-2827-0E3D72A4B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9DF44-9EF8-4B31-8461-4C98E165E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3050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3CA83-CDE6-D781-826D-A3A444497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7C71C7-601F-DC61-7818-5745CF11C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84FC-78FB-448F-AD90-36FB1B17444F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A4FB05-F542-9E82-323E-601A7725B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EA60A7-77B9-86BE-F7F2-6120A86D3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9DF44-9EF8-4B31-8461-4C98E165E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058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AA45EC-D4AC-7EE9-6D53-CC544D0D3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84FC-78FB-448F-AD90-36FB1B17444F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8BEE09-EBED-D4C1-55FA-A28A99DC8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848D2-8F59-7DF4-41C9-1E4EE1CAB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9DF44-9EF8-4B31-8461-4C98E165E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5377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B7F15-5424-75D8-191D-BE1250BF3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5AE7C-D21C-1BD5-D1F6-0C425378B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1A964-5AE8-E511-DBBC-7AB4F4BFB6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0244C5-EC05-AF8C-BA59-39CF0C111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84FC-78FB-448F-AD90-36FB1B17444F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F63DF1-867C-BB34-699C-1201CED64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CBF26F-647D-242E-BAA7-667BE04A3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9DF44-9EF8-4B31-8461-4C98E165E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6688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9286F-B973-3EF7-615F-7AC5AFF11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7EC681-1F28-08F4-9021-FE52D8BB41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6BCE79-94DF-E28A-D621-7CA65C3D4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4377A-A2B4-8D65-F73B-0BB8B7E7F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84FC-78FB-448F-AD90-36FB1B17444F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A6021-F05E-6668-7496-B74E27644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37556A-3293-206C-F8A1-83DEF98EC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9DF44-9EF8-4B31-8461-4C98E165E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3589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4B067-1449-6688-5AD0-52B0AE3E7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2AA212-69C9-0795-3288-E70D6353C6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70746-F8A4-8E88-A6AF-9702E3EBD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84FC-78FB-448F-AD90-36FB1B17444F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06F69-60E0-D6B9-2A92-D3061D1C6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1D8D38-5625-A347-FD00-FC91CB9FC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9DF44-9EF8-4B31-8461-4C98E165E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9170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F589AD-2481-F2CF-303E-97605DFB90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644F43-19C3-C26A-ACAC-5E7D8C7ABF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B037D-3BC0-51C5-18BC-3F84E9C7F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84FC-78FB-448F-AD90-36FB1B17444F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4AF6A-1C05-99ED-117F-823FBE896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809A3B-2F4D-407E-5B60-F84964ABF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9DF44-9EF8-4B31-8461-4C98E165E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2451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9BEDAE-F298-D73E-C027-39ED61ACF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7E3D56-8855-992B-432C-58041E4413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6F092-0511-CC22-04B7-3FCB8DB94B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B84FC-78FB-448F-AD90-36FB1B17444F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AD57D-244A-94A9-F2FB-B223381215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91E02-EE45-FD16-6B7B-8CD514C96B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F9DF44-9EF8-4B31-8461-4C98E165EB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9623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458BD-4891-B36D-376F-B09FAF698D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5747"/>
            <a:ext cx="12060820" cy="1180618"/>
          </a:xfrm>
        </p:spPr>
        <p:txBody>
          <a:bodyPr/>
          <a:lstStyle/>
          <a:p>
            <a:r>
              <a:rPr lang="en-IN" b="1" u="sng" dirty="0"/>
              <a:t>Google Display Campaign framework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FBE99A-247C-8DF9-AEA5-7A64B46F8C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385" y="1551008"/>
            <a:ext cx="11864050" cy="5191245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en-IN" sz="4600" b="1" u="sng" dirty="0"/>
              <a:t>1.Campaign Objective:</a:t>
            </a:r>
          </a:p>
          <a:p>
            <a:pPr marL="457200" indent="-457200" algn="l">
              <a:buFont typeface="Courier New" panose="02070309020205020404" pitchFamily="49" charset="0"/>
              <a:buChar char="o"/>
            </a:pPr>
            <a:r>
              <a:rPr lang="en-IN" sz="2600" b="1" dirty="0"/>
              <a:t>Goal:</a:t>
            </a:r>
            <a:r>
              <a:rPr lang="en-IN" sz="2600" dirty="0"/>
              <a:t> Drive form fills, brochure downloads, open day registrations, and application submissions.</a:t>
            </a:r>
          </a:p>
          <a:p>
            <a:pPr marL="457200" indent="-457200" algn="l">
              <a:buFont typeface="Courier New" panose="02070309020205020404" pitchFamily="49" charset="0"/>
              <a:buChar char="o"/>
            </a:pPr>
            <a:r>
              <a:rPr lang="en-IN" sz="2600" b="1" dirty="0"/>
              <a:t>Secondary Goal:</a:t>
            </a:r>
            <a:r>
              <a:rPr lang="en-IN" sz="2600" dirty="0"/>
              <a:t> Broad brand awareness among prospective students.</a:t>
            </a:r>
          </a:p>
          <a:p>
            <a:pPr algn="l"/>
            <a:endParaRPr lang="en-IN" dirty="0"/>
          </a:p>
          <a:p>
            <a:pPr algn="l"/>
            <a:r>
              <a:rPr lang="en-IN" b="1" dirty="0"/>
              <a:t> </a:t>
            </a:r>
            <a:r>
              <a:rPr lang="en-IN" sz="5100" b="1" u="sng" dirty="0"/>
              <a:t>2. Target Audience:</a:t>
            </a:r>
          </a:p>
          <a:p>
            <a:pPr marL="457200" indent="-457200" algn="l">
              <a:buFont typeface="Courier New" panose="02070309020205020404" pitchFamily="49" charset="0"/>
              <a:buChar char="o"/>
            </a:pPr>
            <a:r>
              <a:rPr lang="en-IN" sz="2600" dirty="0"/>
              <a:t>Geography: Local or regional</a:t>
            </a:r>
          </a:p>
          <a:p>
            <a:pPr marL="457200" indent="-457200" algn="l">
              <a:buFont typeface="Courier New" panose="02070309020205020404" pitchFamily="49" charset="0"/>
              <a:buChar char="o"/>
            </a:pPr>
            <a:r>
              <a:rPr lang="en-IN" sz="2600" dirty="0"/>
              <a:t>Age &amp; Income:18-35</a:t>
            </a:r>
          </a:p>
          <a:p>
            <a:pPr marL="457200" indent="-457200" algn="l">
              <a:buFont typeface="Courier New" panose="02070309020205020404" pitchFamily="49" charset="0"/>
              <a:buChar char="o"/>
            </a:pPr>
            <a:r>
              <a:rPr lang="en-IN" sz="2600" dirty="0"/>
              <a:t>Language : Instruction language (e.g., English) and dominant local languages.</a:t>
            </a:r>
          </a:p>
          <a:p>
            <a:pPr marL="342900" indent="-342900" algn="l">
              <a:buFont typeface="Courier New" panose="02070309020205020404" pitchFamily="49" charset="0"/>
              <a:buChar char="o"/>
            </a:pPr>
            <a:endParaRPr lang="en-IN" sz="2200" dirty="0"/>
          </a:p>
          <a:p>
            <a:pPr algn="l"/>
            <a:r>
              <a:rPr lang="en-IN" sz="5100" b="1" u="sng" dirty="0"/>
              <a:t>3.Audience Segments:</a:t>
            </a:r>
          </a:p>
          <a:p>
            <a:pPr marL="457200" indent="-457200" algn="l">
              <a:buFont typeface="Courier New" panose="02070309020205020404" pitchFamily="49" charset="0"/>
              <a:buChar char="o"/>
            </a:pPr>
            <a:r>
              <a:rPr lang="en-IN" sz="2600" dirty="0"/>
              <a:t>In-Market Audiences</a:t>
            </a:r>
          </a:p>
          <a:p>
            <a:pPr marL="457200" indent="-457200" algn="l">
              <a:buFont typeface="Courier New" panose="02070309020205020404" pitchFamily="49" charset="0"/>
              <a:buChar char="o"/>
            </a:pPr>
            <a:r>
              <a:rPr lang="en-IN" sz="2600" dirty="0"/>
              <a:t>Affinity Audiences</a:t>
            </a:r>
          </a:p>
          <a:p>
            <a:pPr marL="457200" indent="-457200" algn="l">
              <a:buFont typeface="Courier New" panose="02070309020205020404" pitchFamily="49" charset="0"/>
              <a:buChar char="o"/>
            </a:pPr>
            <a:r>
              <a:rPr lang="en-IN" sz="2600" dirty="0"/>
              <a:t>Custom Intent</a:t>
            </a:r>
          </a:p>
          <a:p>
            <a:pPr marL="457200" indent="-457200" algn="l">
              <a:buFont typeface="Courier New" panose="02070309020205020404" pitchFamily="49" charset="0"/>
              <a:buChar char="o"/>
            </a:pPr>
            <a:r>
              <a:rPr lang="en-IN" sz="2600" dirty="0"/>
              <a:t>Life Events</a:t>
            </a:r>
          </a:p>
          <a:p>
            <a:pPr marL="457200" indent="-457200" algn="l">
              <a:buFont typeface="Courier New" panose="02070309020205020404" pitchFamily="49" charset="0"/>
              <a:buChar char="o"/>
            </a:pPr>
            <a:r>
              <a:rPr lang="en-IN" sz="2600" dirty="0"/>
              <a:t>Demographics</a:t>
            </a:r>
            <a:endParaRPr lang="en-IN" sz="2600" b="1" u="sng" dirty="0"/>
          </a:p>
          <a:p>
            <a:pPr algn="l"/>
            <a:r>
              <a:rPr lang="en-IN" sz="2600" b="1" u="sng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36981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B50558E-B474-CA47-9E09-D3B7F927BEF7}"/>
              </a:ext>
            </a:extLst>
          </p:cNvPr>
          <p:cNvSpPr txBox="1"/>
          <p:nvPr/>
        </p:nvSpPr>
        <p:spPr>
          <a:xfrm>
            <a:off x="81024" y="127322"/>
            <a:ext cx="11609406" cy="5724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u="sng" dirty="0"/>
              <a:t>4. Banner Content Ideas: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Size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Urgency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Value-Driven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Trust</a:t>
            </a:r>
          </a:p>
          <a:p>
            <a:r>
              <a:rPr lang="en-IN" sz="3200" b="1" u="sng" dirty="0"/>
              <a:t>5. Responsive Display Ad Content: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Short Headlines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Long Headlines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Descriptions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Business Name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Call to Action </a:t>
            </a:r>
          </a:p>
          <a:p>
            <a:r>
              <a:rPr lang="en-IN" sz="3200" b="1" u="sng" dirty="0"/>
              <a:t>6. Remarketing Audience Strategy: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Website Visitors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Cart/Form Abandoners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Video Viewers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Social Proof Remarketing</a:t>
            </a:r>
            <a:endParaRPr lang="en-IN" b="1" u="sng" dirty="0"/>
          </a:p>
          <a:p>
            <a:endParaRPr lang="en-IN" b="1" u="sng" dirty="0"/>
          </a:p>
          <a:p>
            <a:endParaRPr lang="en-IN" u="sng" dirty="0"/>
          </a:p>
        </p:txBody>
      </p:sp>
    </p:spTree>
    <p:extLst>
      <p:ext uri="{BB962C8B-B14F-4D97-AF65-F5344CB8AC3E}">
        <p14:creationId xmlns:p14="http://schemas.microsoft.com/office/powerpoint/2010/main" val="860879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AC5EF1-7EF5-2C75-AAF8-252D3F8392F4}"/>
              </a:ext>
            </a:extLst>
          </p:cNvPr>
          <p:cNvSpPr txBox="1"/>
          <p:nvPr/>
        </p:nvSpPr>
        <p:spPr>
          <a:xfrm>
            <a:off x="152400" y="-104173"/>
            <a:ext cx="11887200" cy="954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r>
              <a:rPr lang="en-IN" sz="3200" b="1" u="sng" strike="noStrike" dirty="0">
                <a:effectLst/>
                <a:latin typeface="Google Sans"/>
              </a:rPr>
              <a:t>7. Budget Allocation:</a:t>
            </a:r>
          </a:p>
          <a:p>
            <a:pPr marL="285750" marR="0" indent="-285750">
              <a:spcBef>
                <a:spcPts val="1800"/>
              </a:spcBef>
              <a:spcAft>
                <a:spcPts val="900"/>
              </a:spcAft>
              <a:buFont typeface="Courier New" panose="02070309020205020404" pitchFamily="49" charset="0"/>
              <a:buChar char="o"/>
            </a:pPr>
            <a:r>
              <a:rPr lang="en-IN" dirty="0"/>
              <a:t>Total Monthly Budget.</a:t>
            </a:r>
          </a:p>
          <a:p>
            <a:pPr marL="285750" marR="0" indent="-285750">
              <a:spcBef>
                <a:spcPts val="1800"/>
              </a:spcBef>
              <a:spcAft>
                <a:spcPts val="900"/>
              </a:spcAft>
              <a:buFont typeface="Courier New" panose="02070309020205020404" pitchFamily="49" charset="0"/>
              <a:buChar char="o"/>
            </a:pPr>
            <a:r>
              <a:rPr lang="en-IN" dirty="0"/>
              <a:t>New Prospecting.</a:t>
            </a:r>
          </a:p>
          <a:p>
            <a:pPr marL="285750" marR="0" indent="-285750">
              <a:spcBef>
                <a:spcPts val="1800"/>
              </a:spcBef>
              <a:spcAft>
                <a:spcPts val="900"/>
              </a:spcAft>
              <a:buFont typeface="Courier New" panose="02070309020205020404" pitchFamily="49" charset="0"/>
              <a:buChar char="o"/>
            </a:pPr>
            <a:r>
              <a:rPr lang="en-IN" dirty="0"/>
              <a:t>Remarketing</a:t>
            </a:r>
          </a:p>
          <a:p>
            <a:pPr marL="285750" indent="-285750">
              <a:spcBef>
                <a:spcPts val="1800"/>
              </a:spcBef>
              <a:spcAft>
                <a:spcPts val="900"/>
              </a:spcAft>
              <a:buFont typeface="Courier New" panose="02070309020205020404" pitchFamily="49" charset="0"/>
              <a:buChar char="o"/>
            </a:pPr>
            <a:r>
              <a:rPr lang="en-IN" dirty="0"/>
              <a:t>Brand/Institution Exclusivity </a:t>
            </a:r>
          </a:p>
          <a:p>
            <a:pPr>
              <a:spcBef>
                <a:spcPts val="1800"/>
              </a:spcBef>
              <a:spcAft>
                <a:spcPts val="900"/>
              </a:spcAft>
            </a:pPr>
            <a:r>
              <a:rPr lang="en-IN" sz="3200" b="1" u="sng" dirty="0"/>
              <a:t>8. Campaign KPIs:</a:t>
            </a:r>
          </a:p>
          <a:p>
            <a:pPr marL="285750" indent="-285750">
              <a:spcBef>
                <a:spcPts val="1800"/>
              </a:spcBef>
              <a:spcAft>
                <a:spcPts val="900"/>
              </a:spcAft>
              <a:buFont typeface="Courier New" panose="02070309020205020404" pitchFamily="49" charset="0"/>
              <a:buChar char="o"/>
            </a:pPr>
            <a:r>
              <a:rPr lang="en-IN" dirty="0"/>
              <a:t>Primary</a:t>
            </a:r>
          </a:p>
          <a:p>
            <a:pPr marL="285750" indent="-285750">
              <a:spcBef>
                <a:spcPts val="1800"/>
              </a:spcBef>
              <a:spcAft>
                <a:spcPts val="900"/>
              </a:spcAft>
              <a:buFont typeface="Courier New" panose="02070309020205020404" pitchFamily="49" charset="0"/>
              <a:buChar char="o"/>
            </a:pPr>
            <a:r>
              <a:rPr lang="en-IN" dirty="0"/>
              <a:t>Secondary</a:t>
            </a:r>
          </a:p>
          <a:p>
            <a:pPr>
              <a:spcBef>
                <a:spcPts val="1800"/>
              </a:spcBef>
              <a:spcAft>
                <a:spcPts val="900"/>
              </a:spcAft>
            </a:pPr>
            <a:r>
              <a:rPr lang="en-IN" sz="3200" b="1" u="sng" dirty="0"/>
              <a:t>9. Optimization Plan:</a:t>
            </a:r>
          </a:p>
          <a:p>
            <a:pPr marL="285750" indent="-285750">
              <a:spcBef>
                <a:spcPts val="1800"/>
              </a:spcBef>
              <a:spcAft>
                <a:spcPts val="900"/>
              </a:spcAft>
              <a:buFont typeface="Courier New" panose="02070309020205020404" pitchFamily="49" charset="0"/>
              <a:buChar char="o"/>
            </a:pPr>
            <a:r>
              <a:rPr lang="en-IN" dirty="0"/>
              <a:t>Weekly and Monthly </a:t>
            </a:r>
          </a:p>
          <a:p>
            <a:pPr>
              <a:spcBef>
                <a:spcPts val="1800"/>
              </a:spcBef>
              <a:spcAft>
                <a:spcPts val="900"/>
              </a:spcAft>
            </a:pPr>
            <a:endParaRPr lang="en-IN" sz="3200" b="1" u="sng" dirty="0"/>
          </a:p>
          <a:p>
            <a:pPr>
              <a:spcBef>
                <a:spcPts val="1800"/>
              </a:spcBef>
              <a:spcAft>
                <a:spcPts val="900"/>
              </a:spcAft>
            </a:pPr>
            <a:endParaRPr lang="en-IN" b="1" u="sng" dirty="0"/>
          </a:p>
          <a:p>
            <a:pPr>
              <a:spcBef>
                <a:spcPts val="1800"/>
              </a:spcBef>
              <a:spcAft>
                <a:spcPts val="900"/>
              </a:spcAft>
            </a:pPr>
            <a:endParaRPr lang="en-IN" dirty="0"/>
          </a:p>
          <a:p>
            <a:pPr marL="285750" indent="-285750">
              <a:spcBef>
                <a:spcPts val="1800"/>
              </a:spcBef>
              <a:spcAft>
                <a:spcPts val="900"/>
              </a:spcAft>
              <a:buFont typeface="Courier New" panose="02070309020205020404" pitchFamily="49" charset="0"/>
              <a:buChar char="o"/>
            </a:pPr>
            <a:endParaRPr lang="en-IN" b="1" u="sng" strike="noStrike" dirty="0">
              <a:effectLst/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4035779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</Words>
  <Application>Microsoft Office PowerPoint</Application>
  <PresentationFormat>Widescreen</PresentationFormat>
  <Paragraphs>46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Courier New</vt:lpstr>
      <vt:lpstr>Google Sans</vt:lpstr>
      <vt:lpstr>Office Theme</vt:lpstr>
      <vt:lpstr>Google Display Campaign framework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AAKULA TEJESH</dc:creator>
  <cp:lastModifiedBy>AAKULA TEJESH</cp:lastModifiedBy>
  <cp:revision>1</cp:revision>
  <dcterms:created xsi:type="dcterms:W3CDTF">2026-07-17T11:31:04Z</dcterms:created>
  <dcterms:modified xsi:type="dcterms:W3CDTF">2026-07-17T11:31:39Z</dcterms:modified>
</cp:coreProperties>
</file>