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05F1-3253-4BD0-521C-4643E24C2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01946-436A-0C9D-58C3-ECC25110C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5626B-35E8-90E7-576C-F1A4BBC0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8FE80-200E-AC8E-D6AD-83E211E2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B185B-E410-D48A-725D-33AB5FEC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41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A925-4677-8397-73EA-49C9297A4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6C66C-FA33-3D4E-DA00-05AF79B43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94BDD-F6F5-1DC2-4788-276A268D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7F5B4-EC65-A61F-A7DD-73E4CEC6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DB019-E4CE-2C70-567A-494DBEA7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87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7941-E921-053E-7139-1C7D0CBF0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8104C-BD85-187A-3B64-D72796242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86CF2-820C-E518-CEF1-A86D43208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31601-EC8D-3AE2-D4B5-F5084C6A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FA9E8-DCAC-A899-DCF5-A98E3BE6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64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33262-7B98-119D-3718-011A2BD7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E5085-43B4-971F-A992-7D002ED08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7E258-187F-7D4F-D342-E1046224F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9AB76-318B-80DA-3A33-0BECCFEC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D031E-5AD7-95DF-B977-93F52634E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89513-0805-88FE-8F69-47B441FB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113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4CCE3-F1AC-862A-F76B-B908EFE7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D1142-B7A6-031F-2CF6-3AD0E293F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DF5BA-D8A9-B210-27FC-47525515A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E45A3-C979-FF55-AF1E-97AEA1CB17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A71FF-DAB2-E9CA-4C39-39C4BE8A7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03586-58C8-0D5C-7DA0-69FEEA3E6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627EC7-4688-3FAB-AFAE-9710582A8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5E56F-410F-BE23-929C-01F1EF50E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92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784-86D9-5D2E-DDA2-724FE61D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BBAFE-AB0B-4B74-4F45-3271F6284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98B70-9A0A-889F-AB0A-0B9A7ACA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A333D-3E2A-72B6-D571-343A4908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86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A2489-8691-392C-0DDD-4A1D6E8C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89EB4-938B-B4E3-4450-8B794396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A3BF2-FC44-0102-004B-32382764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49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A3BD-4583-FC65-8FF8-7E8A0F24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08A0B-1CB4-6EB7-BFAE-B9831B271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5C3C4-A71D-79C4-28C0-35C57D644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B734C-562C-4B0B-EDA3-9DAA281E7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B8153-79BA-10E5-D0D2-24F3360B0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2BD0D-597A-89A9-3199-D57868A5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555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AB44-BE5F-6987-5E6E-DECD053E1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3911B-1DBD-CF12-E57A-6502656A5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D79FD-73F3-E4D0-CAF4-8BCE3DBB6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3A3C1-6560-36FE-49BA-08CDE484A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A41E5-8C5B-923B-C169-9DECD1FA4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CFCB5-77F0-3AB6-F002-4AD287957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81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B9742-5B83-0070-B040-70DD47B3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7D62E-1F93-2EAA-7208-D6B41110F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AE6FB-94B7-A8A7-0FEC-2466D75C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F11A1-097E-37A0-52E7-34B72B09B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78FEA-7BC0-2FC7-73B0-B575F33A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940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4862D3-3F60-7300-1EA9-689FB7F38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3510E-F622-F085-8771-3D5E77A39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74434-7FD9-006C-0A66-494348CEF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07565-47A7-399A-689F-A700261C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C0A1F-7FD0-BA28-8CE7-A4A4FDF3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39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CE542A-DBDA-D262-0A2A-E7F81004A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A91D6-F6D1-6B98-F520-B0F235150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BAF46-EED1-9D0C-63EB-8AD199951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82A4E-B12A-4B69-BB4B-FC96851E0E1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2DC4F-D77E-FE62-416E-480E15F46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EB759-6525-DD48-080B-928117B53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8687F-0A39-4F34-A67E-21DAFE67D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6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google.com/search-console/about" TargetMode="External"/><Relationship Id="rId2" Type="http://schemas.openxmlformats.org/officeDocument/2006/relationships/hyperlink" Target="https://analytics.google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ookerstudio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E468A5A-0EDD-7DB5-7188-D3ECF5D1E198}"/>
              </a:ext>
            </a:extLst>
          </p:cNvPr>
          <p:cNvSpPr txBox="1"/>
          <p:nvPr/>
        </p:nvSpPr>
        <p:spPr>
          <a:xfrm>
            <a:off x="-1" y="-115747"/>
            <a:ext cx="10046825" cy="512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800" b="1" u="none" strike="noStrike" dirty="0">
                <a:effectLst/>
                <a:latin typeface="Google Sans"/>
              </a:rPr>
              <a:t>🚀 360° Organic Growth Strategy: Executive Client Pitch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1200" b="1" u="none" strike="noStrike" dirty="0">
                <a:effectLst/>
                <a:latin typeface="Google Sans"/>
              </a:rPr>
              <a:t>Accelerating Search Visibility, Leads, and Revenue</a:t>
            </a:r>
            <a:br>
              <a:rPr lang="en-IN" sz="1200" b="0" u="none" strike="noStrike" dirty="0">
                <a:effectLst/>
                <a:latin typeface="Google Sans"/>
              </a:rPr>
            </a:br>
            <a:r>
              <a:rPr lang="en-IN" sz="1200" b="0" i="1" u="none" strike="noStrike" dirty="0">
                <a:effectLst/>
                <a:latin typeface="Google Sans"/>
              </a:rPr>
              <a:t>Presented by: SEO Strategy Team</a:t>
            </a:r>
            <a:br>
              <a:rPr lang="en-IN" sz="1200" b="0" u="none" strike="noStrike" dirty="0">
                <a:effectLst/>
                <a:latin typeface="Google Sans"/>
              </a:rPr>
            </a:br>
            <a:r>
              <a:rPr lang="en-IN" sz="1200" b="0" i="1" u="none" strike="noStrike" dirty="0">
                <a:effectLst/>
                <a:latin typeface="Google Sans"/>
              </a:rPr>
              <a:t>Prepared for: Client Executive Board</a:t>
            </a:r>
            <a:endParaRPr lang="en-IN" sz="1200" b="0" u="none" strike="noStrike" dirty="0">
              <a:effectLst/>
              <a:latin typeface="Google Sans"/>
            </a:endParaRPr>
          </a:p>
          <a:p>
            <a:pPr marL="0" marR="0">
              <a:buNone/>
            </a:pPr>
            <a:br>
              <a:rPr lang="en-IN" sz="1200" b="0" u="none" strike="noStrike" dirty="0">
                <a:effectLst/>
                <a:latin typeface="Google Sans"/>
              </a:rPr>
            </a:br>
            <a:r>
              <a:rPr lang="en-IN" sz="1500" b="1" u="none" strike="noStrike" dirty="0">
                <a:effectLst/>
                <a:latin typeface="Google Sans"/>
              </a:rPr>
              <a:t> </a:t>
            </a:r>
            <a:r>
              <a:rPr lang="en-IN" sz="2800" b="1" u="none" strike="noStrike" dirty="0">
                <a:effectLst/>
                <a:latin typeface="Google Sans"/>
              </a:rPr>
              <a:t>1: Website Audit Summary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b="1" u="none" strike="noStrike" dirty="0">
                <a:effectLst/>
                <a:latin typeface="Google Sans"/>
              </a:rPr>
              <a:t>Current Technical and Content Health Assessment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Site Health Score: 64/100 (Critical structural issues identified).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Crawlability Status: 45 broken links (404 errors) and 12 loop redirect chains.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Indexing Gaps: 18 high-value product/service pages are excluded by accidental </a:t>
            </a:r>
            <a:r>
              <a:rPr lang="en-IN" b="1" u="none" strike="noStrike" dirty="0" err="1">
                <a:effectLst/>
                <a:latin typeface="Courier New" panose="02070309020205020404" pitchFamily="49" charset="0"/>
              </a:rPr>
              <a:t>noindex</a:t>
            </a:r>
            <a:r>
              <a:rPr lang="en-IN" b="1" u="none" strike="noStrike" dirty="0">
                <a:effectLst/>
                <a:latin typeface="Google Sans"/>
              </a:rPr>
              <a:t> tags.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Core Web Vitals: Failing on Mobile. Large </a:t>
            </a:r>
            <a:r>
              <a:rPr lang="en-IN" b="1" u="none" strike="noStrike" dirty="0" err="1">
                <a:effectLst/>
                <a:latin typeface="Google Sans"/>
              </a:rPr>
              <a:t>Contentful</a:t>
            </a:r>
            <a:r>
              <a:rPr lang="en-IN" b="1" u="none" strike="noStrike" dirty="0">
                <a:effectLst/>
                <a:latin typeface="Google Sans"/>
              </a:rPr>
              <a:t> Paint (LCP) averages 4.2 seconds.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SEO Debt: 35% of all existing pages suffer from thin content or zero meta tags.</a:t>
            </a:r>
          </a:p>
        </p:txBody>
      </p:sp>
    </p:spTree>
    <p:extLst>
      <p:ext uri="{BB962C8B-B14F-4D97-AF65-F5344CB8AC3E}">
        <p14:creationId xmlns:p14="http://schemas.microsoft.com/office/powerpoint/2010/main" val="2480685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D5DD8C-450E-8221-7C14-83200D90362C}"/>
              </a:ext>
            </a:extLst>
          </p:cNvPr>
          <p:cNvSpPr txBox="1"/>
          <p:nvPr/>
        </p:nvSpPr>
        <p:spPr>
          <a:xfrm>
            <a:off x="0" y="0"/>
            <a:ext cx="9580944" cy="7148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800" b="1" u="none" strike="noStrike" dirty="0">
                <a:effectLst/>
                <a:latin typeface="Google Sans"/>
              </a:rPr>
              <a:t>2: Competitor Analysis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000" b="1" u="none" strike="noStrike" dirty="0">
                <a:effectLst/>
                <a:latin typeface="Google Sans"/>
              </a:rPr>
              <a:t>Organic Market Landscape &amp; Gap Analysis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Competitor Benchmarking</a:t>
            </a:r>
            <a:r>
              <a:rPr lang="en-IN" sz="2000" b="0" u="none" strike="noStrike" dirty="0">
                <a:effectLst/>
                <a:latin typeface="Google Sans"/>
              </a:rPr>
              <a:t>: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Traffic Gap</a:t>
            </a:r>
            <a:r>
              <a:rPr lang="en-IN" sz="2000" b="0" u="none" strike="noStrike" dirty="0">
                <a:effectLst/>
                <a:latin typeface="Google Sans"/>
              </a:rPr>
              <a:t>: Competitors leverage long-form comparison guides to steal 65% of local commercial intent searches.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Backlink Deficit</a:t>
            </a:r>
            <a:r>
              <a:rPr lang="en-IN" sz="2000" b="0" u="none" strike="noStrike" dirty="0">
                <a:effectLst/>
                <a:latin typeface="Google Sans"/>
              </a:rPr>
              <a:t>: Top rivals average 45+ high-authority editorial mentions within our core business niche.</a:t>
            </a:r>
          </a:p>
          <a:p>
            <a:r>
              <a:rPr lang="en-IN" sz="2800" b="1" dirty="0"/>
              <a:t>3: Keyword Research Strategy</a:t>
            </a:r>
          </a:p>
          <a:p>
            <a:r>
              <a:rPr lang="en-IN" sz="2000" b="1" dirty="0"/>
              <a:t>High-Intent Targeting Framework</a:t>
            </a:r>
          </a:p>
          <a:p>
            <a:r>
              <a:rPr lang="en-IN" sz="2000" b="1" dirty="0"/>
              <a:t>Commercial Intent (</a:t>
            </a:r>
            <a:r>
              <a:rPr lang="en-IN" sz="2000" b="1" dirty="0" err="1"/>
              <a:t>BoFu</a:t>
            </a:r>
            <a:r>
              <a:rPr lang="en-IN" sz="2000" b="1" dirty="0"/>
              <a:t>)</a:t>
            </a:r>
            <a:r>
              <a:rPr lang="en-IN" sz="2000" dirty="0"/>
              <a:t>: Focus on transactional variations like "</a:t>
            </a:r>
            <a:r>
              <a:rPr lang="en-IN" sz="2000" i="1" dirty="0"/>
              <a:t>[Service Name] near me</a:t>
            </a:r>
            <a:r>
              <a:rPr lang="en-IN" sz="2000" dirty="0"/>
              <a:t>" and "</a:t>
            </a:r>
            <a:r>
              <a:rPr lang="en-IN" sz="2000" i="1" dirty="0"/>
              <a:t>Best business software solution</a:t>
            </a:r>
            <a:r>
              <a:rPr lang="en-IN" sz="2000" dirty="0"/>
              <a:t>".</a:t>
            </a:r>
          </a:p>
          <a:p>
            <a:r>
              <a:rPr lang="en-IN" sz="2000" b="1" dirty="0"/>
              <a:t>Informational Intent (MoFu/</a:t>
            </a:r>
            <a:r>
              <a:rPr lang="en-IN" sz="2000" b="1" dirty="0" err="1"/>
              <a:t>ToFu</a:t>
            </a:r>
            <a:r>
              <a:rPr lang="en-IN" sz="2000" b="1" dirty="0"/>
              <a:t>)</a:t>
            </a:r>
            <a:r>
              <a:rPr lang="en-IN" sz="2000" dirty="0"/>
              <a:t>: Capture research-stage users searching for "</a:t>
            </a:r>
            <a:r>
              <a:rPr lang="en-IN" sz="2000" i="1" dirty="0"/>
              <a:t>How to optimize business workflow efficiency</a:t>
            </a:r>
            <a:r>
              <a:rPr lang="en-IN" sz="2000" dirty="0"/>
              <a:t>".</a:t>
            </a:r>
          </a:p>
          <a:p>
            <a:r>
              <a:rPr lang="en-IN" sz="2000" b="1" dirty="0"/>
              <a:t>Long-Tail Capture</a:t>
            </a:r>
            <a:r>
              <a:rPr lang="en-IN" sz="2000" dirty="0"/>
              <a:t>: Target low-competition, specific phrasing (e.g., "</a:t>
            </a:r>
            <a:r>
              <a:rPr lang="en-IN" sz="2000" i="1" dirty="0"/>
              <a:t>Affordable B2B compliance software for small businesses</a:t>
            </a:r>
            <a:r>
              <a:rPr lang="en-IN" sz="2000" dirty="0"/>
              <a:t>").</a:t>
            </a:r>
          </a:p>
          <a:p>
            <a:r>
              <a:rPr lang="en-IN" sz="2000" b="1" dirty="0"/>
              <a:t>Search Volume Target</a:t>
            </a:r>
            <a:r>
              <a:rPr lang="en-IN" sz="2000" dirty="0"/>
              <a:t>: Total aggregate search volume of selected target keyword portfolio equals 45,000 queries per month.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</a:pPr>
            <a:endParaRPr lang="en-IN" sz="200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210265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0241F6-36D4-8B6B-8362-F0F479EB029E}"/>
              </a:ext>
            </a:extLst>
          </p:cNvPr>
          <p:cNvSpPr txBox="1"/>
          <p:nvPr/>
        </p:nvSpPr>
        <p:spPr>
          <a:xfrm>
            <a:off x="0" y="0"/>
            <a:ext cx="9141106" cy="7717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800" b="1" u="none" strike="noStrike" dirty="0">
                <a:effectLst/>
                <a:latin typeface="Google Sans"/>
              </a:rPr>
              <a:t>4: On-Page SEO Plan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b="1" u="none" strike="noStrike" dirty="0">
                <a:effectLst/>
                <a:latin typeface="Google Sans"/>
              </a:rPr>
              <a:t>Maximizing Page-Level Relevance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Meta Tag Overhaul</a:t>
            </a:r>
            <a:r>
              <a:rPr lang="en-IN" b="0" u="none" strike="noStrike" dirty="0">
                <a:effectLst/>
                <a:latin typeface="Google Sans"/>
              </a:rPr>
              <a:t>: Rewrite Title Tags (&lt;60 characters) and Meta Descriptions (&lt;160 characters) using primary target terms.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Header Optimization</a:t>
            </a:r>
            <a:r>
              <a:rPr lang="en-IN" b="0" u="none" strike="noStrike" dirty="0">
                <a:effectLst/>
                <a:latin typeface="Google Sans"/>
              </a:rPr>
              <a:t>: Enforce strict hierarchical structure utilizing one single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H1</a:t>
            </a:r>
            <a:r>
              <a:rPr lang="en-IN" b="0" u="none" strike="noStrike" dirty="0">
                <a:effectLst/>
                <a:latin typeface="Google Sans"/>
              </a:rPr>
              <a:t> tag per page, supported by structured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H2</a:t>
            </a:r>
            <a:r>
              <a:rPr lang="en-IN" b="0" u="none" strike="noStrike" dirty="0">
                <a:effectLst/>
                <a:latin typeface="Google Sans"/>
              </a:rPr>
              <a:t> and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H3</a:t>
            </a:r>
            <a:r>
              <a:rPr lang="en-IN" b="0" u="none" strike="noStrike" dirty="0">
                <a:effectLst/>
                <a:latin typeface="Google Sans"/>
              </a:rPr>
              <a:t> variations.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Keyword Placement</a:t>
            </a:r>
            <a:r>
              <a:rPr lang="en-IN" b="0" u="none" strike="noStrike" dirty="0">
                <a:effectLst/>
                <a:latin typeface="Google Sans"/>
              </a:rPr>
              <a:t>: Embed the primary target phrase within the initial 100 words of body copy naturally.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Image Alt Optimization</a:t>
            </a:r>
            <a:r>
              <a:rPr lang="en-IN" b="0" u="none" strike="noStrike" dirty="0">
                <a:effectLst/>
                <a:latin typeface="Google Sans"/>
              </a:rPr>
              <a:t>: Rename all generic asset file names to descriptive, keyword-conscious alternatives with appropriate image Alt Text.</a:t>
            </a:r>
          </a:p>
          <a:p>
            <a:r>
              <a:rPr lang="en-IN" sz="2800" b="1" dirty="0"/>
              <a:t>5: Technical SEO Improvements</a:t>
            </a:r>
          </a:p>
          <a:p>
            <a:r>
              <a:rPr lang="en-IN" b="1" dirty="0"/>
              <a:t>Optimizing Search Engine Infrastructure</a:t>
            </a:r>
          </a:p>
          <a:p>
            <a:r>
              <a:rPr lang="en-IN" b="1" dirty="0"/>
              <a:t>Speed Acceleration</a:t>
            </a:r>
            <a:r>
              <a:rPr lang="en-IN" dirty="0"/>
              <a:t>: Compress oversized media assets, implement lazy loading, and utilize browser caching to lower LCP under 2.5 seconds.</a:t>
            </a:r>
          </a:p>
          <a:p>
            <a:r>
              <a:rPr lang="en-IN" b="1" dirty="0"/>
              <a:t>Mobile-First Design</a:t>
            </a:r>
            <a:r>
              <a:rPr lang="en-IN" dirty="0"/>
              <a:t>: Fix responsive UI elements, ensuring touch targets are spaced properly for seamless mobile rendering.</a:t>
            </a:r>
          </a:p>
          <a:p>
            <a:r>
              <a:rPr lang="en-IN" b="1" dirty="0"/>
              <a:t>Security &amp; Crawling</a:t>
            </a:r>
            <a:r>
              <a:rPr lang="en-IN" dirty="0"/>
              <a:t>: Deploy uniform HTTPS protocols, optimize the robots.txt steering, and purge dead sitemap variations.</a:t>
            </a:r>
          </a:p>
          <a:p>
            <a:r>
              <a:rPr lang="en-IN" b="1" dirty="0"/>
              <a:t>Structured Data</a:t>
            </a:r>
            <a:r>
              <a:rPr lang="en-IN" dirty="0"/>
              <a:t>: Inject detailed </a:t>
            </a:r>
            <a:r>
              <a:rPr lang="en-IN" dirty="0" err="1"/>
              <a:t>LocalBusiness</a:t>
            </a:r>
            <a:r>
              <a:rPr lang="en-IN" dirty="0"/>
              <a:t> and Product Schema markup to generate interactive rich results on Google SERPs.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</a:pPr>
            <a:endParaRPr lang="en-IN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405462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218A6A-BF69-29CF-4FC9-CAFA39929599}"/>
              </a:ext>
            </a:extLst>
          </p:cNvPr>
          <p:cNvSpPr txBox="1"/>
          <p:nvPr/>
        </p:nvSpPr>
        <p:spPr>
          <a:xfrm>
            <a:off x="81023" y="92597"/>
            <a:ext cx="9060083" cy="7717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800" b="1" u="none" strike="noStrike" dirty="0">
                <a:effectLst/>
                <a:latin typeface="Google Sans"/>
              </a:rPr>
              <a:t>6: Local SEO Strategy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b="1" u="none" strike="noStrike" dirty="0">
                <a:effectLst/>
                <a:latin typeface="Google Sans"/>
              </a:rPr>
              <a:t>Dominating Local Map Packs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Google Business Profile</a:t>
            </a:r>
            <a:r>
              <a:rPr lang="en-IN" b="0" u="none" strike="noStrike" dirty="0">
                <a:effectLst/>
                <a:latin typeface="Google Sans"/>
              </a:rPr>
              <a:t>: Claim, verify, and complete 100% of the profile with accurate business hours, services, and high-resolution imagery.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Local Citation Alignment</a:t>
            </a:r>
            <a:r>
              <a:rPr lang="en-IN" b="0" u="none" strike="noStrike" dirty="0">
                <a:effectLst/>
                <a:latin typeface="Google Sans"/>
              </a:rPr>
              <a:t>: Standardize Name, Address, and Phone Number (NAP) details flawlessly across platforms like Yelp, </a:t>
            </a:r>
            <a:r>
              <a:rPr lang="en-IN" b="0" u="none" strike="noStrike" dirty="0" err="1">
                <a:effectLst/>
                <a:latin typeface="Google Sans"/>
              </a:rPr>
              <a:t>YellowPages</a:t>
            </a:r>
            <a:r>
              <a:rPr lang="en-IN" b="0" u="none" strike="noStrike" dirty="0">
                <a:effectLst/>
                <a:latin typeface="Google Sans"/>
              </a:rPr>
              <a:t>, and Bing Places.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Review Acquisition</a:t>
            </a:r>
            <a:r>
              <a:rPr lang="en-IN" b="0" u="none" strike="noStrike" dirty="0">
                <a:effectLst/>
                <a:latin typeface="Google Sans"/>
              </a:rPr>
              <a:t>: Launch an automated post-purchase email sequence aiming to acquire 15+ new 5-star client reviews monthly.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Geo-Targeted Content</a:t>
            </a:r>
            <a:r>
              <a:rPr lang="en-IN" b="0" u="none" strike="noStrike" dirty="0">
                <a:effectLst/>
                <a:latin typeface="Google Sans"/>
              </a:rPr>
              <a:t>: Build dedicated landing pages customized specifically for each regional target city or </a:t>
            </a:r>
            <a:r>
              <a:rPr lang="en-IN" b="0" u="none" strike="noStrike" dirty="0" err="1">
                <a:effectLst/>
                <a:latin typeface="Google Sans"/>
              </a:rPr>
              <a:t>neighborhood</a:t>
            </a:r>
            <a:r>
              <a:rPr lang="en-IN" b="0" u="none" strike="noStrike" dirty="0">
                <a:effectLst/>
                <a:latin typeface="Google Sans"/>
              </a:rPr>
              <a:t> marketplace.</a:t>
            </a:r>
          </a:p>
          <a:p>
            <a:r>
              <a:rPr lang="en-IN" sz="2800" b="1" dirty="0"/>
              <a:t>7: Content Marketing Plan</a:t>
            </a:r>
          </a:p>
          <a:p>
            <a:r>
              <a:rPr lang="en-IN" b="1" dirty="0"/>
              <a:t>Building Authority Through Topically Relevant Assets</a:t>
            </a:r>
          </a:p>
          <a:p>
            <a:r>
              <a:rPr lang="en-IN" b="1" dirty="0"/>
              <a:t>Topic Clustering</a:t>
            </a:r>
            <a:r>
              <a:rPr lang="en-IN" dirty="0"/>
              <a:t>: Construct comprehensive authority hubs supported by a network of descriptive sub-topic articles.</a:t>
            </a:r>
          </a:p>
          <a:p>
            <a:r>
              <a:rPr lang="en-IN" b="1" dirty="0"/>
              <a:t>Content Calendar</a:t>
            </a:r>
            <a:r>
              <a:rPr lang="en-IN" dirty="0"/>
              <a:t>: Commit to a consistent publishing cadence featuring 2 high-quality long-form articles (1,500+ words) every single week.</a:t>
            </a:r>
          </a:p>
          <a:p>
            <a:r>
              <a:rPr lang="en-IN" b="1" dirty="0"/>
              <a:t>Search Intent Alignment</a:t>
            </a:r>
            <a:r>
              <a:rPr lang="en-IN" dirty="0"/>
              <a:t>: Format newly developed guides using concise tables, bulleted lists, and step-by-step numbered breakdowns to win Google Featured Snippets.</a:t>
            </a:r>
          </a:p>
          <a:p>
            <a:r>
              <a:rPr lang="en-IN" b="1" dirty="0"/>
              <a:t>User Experience (UX)</a:t>
            </a:r>
            <a:r>
              <a:rPr lang="en-IN" dirty="0"/>
              <a:t>: Design content formats to emphasize readability with highly scannable paragraphs and zero intrusive layout pop-ups.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</a:pPr>
            <a:endParaRPr lang="en-IN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892785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33DED3-415E-9138-018F-3DEC65B4089F}"/>
              </a:ext>
            </a:extLst>
          </p:cNvPr>
          <p:cNvSpPr txBox="1"/>
          <p:nvPr/>
        </p:nvSpPr>
        <p:spPr>
          <a:xfrm>
            <a:off x="0" y="0"/>
            <a:ext cx="9141106" cy="8494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800" b="1" u="none" strike="noStrike" dirty="0">
                <a:effectLst/>
                <a:latin typeface="Google Sans"/>
              </a:rPr>
              <a:t>8: Internal Linking Strategy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000" b="1" u="none" strike="noStrike" dirty="0">
                <a:effectLst/>
                <a:latin typeface="Google Sans"/>
              </a:rPr>
              <a:t>Distributing Site Authority Efficiently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Hub &amp; Spoke Architecture</a:t>
            </a:r>
            <a:r>
              <a:rPr lang="en-IN" sz="2000" b="0" u="none" strike="noStrike" dirty="0">
                <a:effectLst/>
                <a:latin typeface="Google Sans"/>
              </a:rPr>
              <a:t>: Link supporting blog entries directly back to their main overarching parent landing service page.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Anchor Text Optimization</a:t>
            </a:r>
            <a:r>
              <a:rPr lang="en-IN" sz="2000" b="0" u="none" strike="noStrike" dirty="0">
                <a:effectLst/>
                <a:latin typeface="Google Sans"/>
              </a:rPr>
              <a:t>: Eradicate generic "click here" text; replace with highly descriptive, keyword-rich anchor text phrases.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Orphan Page Remediation</a:t>
            </a:r>
            <a:r>
              <a:rPr lang="en-IN" sz="2000" b="0" u="none" strike="noStrike" dirty="0">
                <a:effectLst/>
                <a:latin typeface="Google Sans"/>
              </a:rPr>
              <a:t>: Scan the site structure to connect completely isolated pages back into the primary navigation loop.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Crawl Depth Minimization</a:t>
            </a:r>
            <a:r>
              <a:rPr lang="en-IN" sz="2000" b="0" u="none" strike="noStrike" dirty="0">
                <a:effectLst/>
                <a:latin typeface="Google Sans"/>
              </a:rPr>
              <a:t>: Re-engineer structural internal links so every single high-value page rests less than 3 clicks away from the homepage.</a:t>
            </a:r>
          </a:p>
          <a:p>
            <a:pPr marL="0" marR="0">
              <a:buNone/>
            </a:pPr>
            <a:br>
              <a:rPr lang="en-IN" sz="2000" b="0" u="none" strike="noStrike" dirty="0">
                <a:effectLst/>
                <a:latin typeface="Google Sans"/>
              </a:rPr>
            </a:br>
            <a:r>
              <a:rPr lang="en-IN" sz="2800" b="1" u="none" strike="noStrike" dirty="0">
                <a:effectLst/>
                <a:latin typeface="Google Sans"/>
              </a:rPr>
              <a:t>9: Monthly SEO Activity Plan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000" b="1" u="none" strike="noStrike" dirty="0">
                <a:effectLst/>
                <a:latin typeface="Google Sans"/>
              </a:rPr>
              <a:t>Execution Timeline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Month 1: Foundation</a:t>
            </a:r>
            <a:r>
              <a:rPr lang="en-IN" sz="2000" b="0" u="none" strike="noStrike" dirty="0">
                <a:effectLst/>
                <a:latin typeface="Google Sans"/>
              </a:rPr>
              <a:t>: Run complete technical fixes, patch crawl errors, secure HTTPS, and finish primary keyword mapping portfolios.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Month 2: On-Page Expansion</a:t>
            </a:r>
            <a:r>
              <a:rPr lang="en-IN" sz="2000" b="0" u="none" strike="noStrike" dirty="0">
                <a:effectLst/>
                <a:latin typeface="Google Sans"/>
              </a:rPr>
              <a:t>: Deploy optimized meta data, launch the content marketing calendar, and fix internal link structural networks.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Month 3: Authority Acceleration</a:t>
            </a:r>
            <a:r>
              <a:rPr lang="en-IN" sz="2000" b="0" u="none" strike="noStrike" dirty="0">
                <a:effectLst/>
                <a:latin typeface="Google Sans"/>
              </a:rPr>
              <a:t>: Initiate active backlink outreach, distribute digital PR assets, and build local citation networks</a:t>
            </a:r>
            <a:r>
              <a:rPr lang="en-IN" sz="1200" b="0" u="none" strike="noStrike" dirty="0">
                <a:effectLst/>
                <a:latin typeface="Googl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144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4B9243-B60B-B24E-596E-EF4F7BF55777}"/>
              </a:ext>
            </a:extLst>
          </p:cNvPr>
          <p:cNvSpPr txBox="1"/>
          <p:nvPr/>
        </p:nvSpPr>
        <p:spPr>
          <a:xfrm>
            <a:off x="0" y="0"/>
            <a:ext cx="9141106" cy="7855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800" b="1" u="none" strike="noStrike" dirty="0">
                <a:effectLst/>
                <a:latin typeface="Google Sans"/>
              </a:rPr>
              <a:t>10: KPI Dashboard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b="1" u="none" strike="noStrike" dirty="0">
                <a:effectLst/>
                <a:latin typeface="Google Sans"/>
              </a:rPr>
              <a:t>Success Metrics &amp; Reporting Infrastructure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Primary Metrics (Core Business Goals)</a:t>
            </a:r>
            <a:r>
              <a:rPr lang="en-IN" b="0" u="none" strike="noStrike" dirty="0">
                <a:effectLst/>
                <a:latin typeface="Google Sans"/>
              </a:rPr>
              <a:t>: Organic Conversion Rate (Leads/Sales), Total Goal Completions, and Organic Revenue Growth.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Secondary Metrics (SEO Health)</a:t>
            </a:r>
            <a:r>
              <a:rPr lang="en-IN" b="0" u="none" strike="noStrike" dirty="0">
                <a:effectLst/>
                <a:latin typeface="Google Sans"/>
              </a:rPr>
              <a:t>: Total Organic Traffic Impressions, Click-Through Rate (CTR), and Net Non-Branded Keyword Rankings.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Analytics Integration</a:t>
            </a:r>
            <a:r>
              <a:rPr lang="en-IN" b="0" u="none" strike="noStrike" dirty="0">
                <a:effectLst/>
                <a:latin typeface="Google Sans"/>
              </a:rPr>
              <a:t>: Sync </a:t>
            </a:r>
            <a:r>
              <a:rPr lang="en-IN" b="0" u="none" strike="noStrike" dirty="0">
                <a:effectLst/>
                <a:latin typeface="Google Sans"/>
                <a:hlinkClick r:id="rId2"/>
              </a:rPr>
              <a:t>Google Analytics 4 (GA4)</a:t>
            </a:r>
            <a:r>
              <a:rPr lang="en-IN" b="0" u="none" strike="noStrike" dirty="0">
                <a:effectLst/>
                <a:latin typeface="Google Sans"/>
              </a:rPr>
              <a:t> data channels with </a:t>
            </a:r>
            <a:r>
              <a:rPr lang="en-IN" b="0" u="none" strike="noStrike" dirty="0">
                <a:effectLst/>
                <a:latin typeface="Google Sans"/>
                <a:hlinkClick r:id="rId3"/>
              </a:rPr>
              <a:t>Google Search Console</a:t>
            </a:r>
            <a:r>
              <a:rPr lang="en-IN" b="0" u="none" strike="noStrike" dirty="0">
                <a:effectLst/>
                <a:latin typeface="Google Sans"/>
              </a:rPr>
              <a:t> into a live, unified </a:t>
            </a:r>
            <a:r>
              <a:rPr lang="en-IN" b="0" u="none" strike="noStrike" dirty="0">
                <a:effectLst/>
                <a:latin typeface="Google Sans"/>
                <a:hlinkClick r:id="rId4"/>
              </a:rPr>
              <a:t>Looker Studio Dashboard</a:t>
            </a:r>
            <a:r>
              <a:rPr lang="en-IN" b="0" u="none" strike="noStrike" dirty="0">
                <a:effectLst/>
                <a:latin typeface="Google Sans"/>
              </a:rPr>
              <a:t> for transparent client monitoring.</a:t>
            </a:r>
          </a:p>
          <a:p>
            <a:pPr marL="0" marR="0">
              <a:buNone/>
            </a:pPr>
            <a:br>
              <a:rPr lang="en-IN" sz="1200" b="0" u="none" strike="noStrike" dirty="0">
                <a:effectLst/>
                <a:latin typeface="Google Sans"/>
              </a:rPr>
            </a:br>
            <a:endParaRPr lang="en-IN" sz="1200" b="0" u="none" strike="noStrike" dirty="0">
              <a:effectLst/>
              <a:latin typeface="Google Sans"/>
            </a:endParaRP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800" b="1" u="none" strike="noStrike" dirty="0">
                <a:effectLst/>
                <a:latin typeface="Google Sans"/>
              </a:rPr>
              <a:t>11: Expected Results (3 Months)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b="1" u="none" strike="noStrike" dirty="0">
                <a:effectLst/>
                <a:latin typeface="Google Sans"/>
              </a:rPr>
              <a:t>Short-Term ROI Projection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Organic Visibility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1" u="none" strike="noStrike" dirty="0">
                <a:effectLst/>
                <a:latin typeface="Google Sans"/>
              </a:rPr>
              <a:t>+40% growth in overall Search Impressions</a:t>
            </a:r>
            <a:r>
              <a:rPr lang="en-IN" b="0" u="none" strike="noStrike" dirty="0">
                <a:effectLst/>
                <a:latin typeface="Google Sans"/>
              </a:rPr>
              <a:t> via technical indexation and infrastructure repairs.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Keyword Rankings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1" u="none" strike="noStrike" dirty="0">
                <a:effectLst/>
                <a:latin typeface="Google Sans"/>
              </a:rPr>
              <a:t>15+ high-intent target terms advancing to Page 1</a:t>
            </a:r>
            <a:r>
              <a:rPr lang="en-IN" b="0" u="none" strike="noStrike" dirty="0">
                <a:effectLst/>
                <a:latin typeface="Google Sans"/>
              </a:rPr>
              <a:t> of search results.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Traffic Growth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1" u="none" strike="noStrike" dirty="0">
                <a:effectLst/>
                <a:latin typeface="Google Sans"/>
              </a:rPr>
              <a:t>+25% lift in total monthly qualified organic traffic sessions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Lead Generation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1" u="none" strike="noStrike" dirty="0">
                <a:effectLst/>
                <a:latin typeface="Google Sans"/>
              </a:rPr>
              <a:t>+15% expansion in organic conversion goal completions</a:t>
            </a:r>
            <a:r>
              <a:rPr lang="en-IN" b="0" u="none" strike="noStrike" dirty="0">
                <a:effectLst/>
                <a:latin typeface="Google Sans"/>
              </a:rPr>
              <a:t> driven by optimized user intent tracking.</a:t>
            </a:r>
          </a:p>
        </p:txBody>
      </p:sp>
    </p:spTree>
    <p:extLst>
      <p:ext uri="{BB962C8B-B14F-4D97-AF65-F5344CB8AC3E}">
        <p14:creationId xmlns:p14="http://schemas.microsoft.com/office/powerpoint/2010/main" val="4162709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984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AAKULA TEJESH</dc:creator>
  <cp:lastModifiedBy>AAKULA TEJESH</cp:lastModifiedBy>
  <cp:revision>1</cp:revision>
  <dcterms:created xsi:type="dcterms:W3CDTF">2026-07-10T12:11:56Z</dcterms:created>
  <dcterms:modified xsi:type="dcterms:W3CDTF">2026-07-10T12:24:49Z</dcterms:modified>
</cp:coreProperties>
</file>