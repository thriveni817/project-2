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D7D2-0812-02BD-A8CC-FA95FD236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71D0B-9329-4981-196E-EFBCEF1E3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6A8A1-FC66-F158-9B67-D84E29F4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19E1E-FC26-FE75-A504-48D4C20C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5D679-7EFB-F185-9FC1-D5DB04F67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72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2C59-38D5-280D-0BAC-DF142E4D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36353-98A7-6B49-C9F3-9B09B028D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6A045-1F11-198C-AD9C-338FCB88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6589-FDCE-C75D-0E73-16AD0C45C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262B1-B710-1C17-3168-DDA1265E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35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0811-1904-E5AA-1C1F-207F5B27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160DC-661A-EAA6-9C8F-2333145AE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6ECA6-FC23-546A-DA06-45122C8F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FDC63-83C2-E5B2-9BFC-16C37A08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0BDE5-5C35-FC16-6FDB-E42694EA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7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9382-B520-B9CE-7493-C4DE7BD8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AF143-8E4E-C4B2-25A9-E7C07D249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30DEA-585D-A978-A7E2-AD0A6178F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DEE16-6F7C-9BFE-C4D9-50A6B2F4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80B5F-4551-DF3A-FB45-6EF5BA65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C782E-1D0C-EC54-1E4F-40763050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01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AA7D-6A46-84D9-87C4-F0B45A0B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1EAC8-BDA8-046D-E2FA-6EA9F12F8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E8141-C36A-364F-FD09-1B639107E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06966-6540-0C08-B55A-26EB16CEF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2E6DE8-23D7-F255-1553-06D12C1DE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A9A5A-26BD-6734-E2B2-4FF47C6E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B027E2-6B36-EB33-4F1C-382921F3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7F58B-0C3B-60BC-81B9-6F30AC26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29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3192-6309-55EC-7D07-1F060142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072504-054F-738B-9574-C7C418F1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073D7-1B08-7219-7BFF-5F08DDF1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91427-3776-9303-F520-6437A227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05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71DA2-E739-96DA-4D5F-8AA79C16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53E37-FEF8-3E0E-0B2A-EC3D86DC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4F26E-B47A-E37A-96EE-4C5A24E40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729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15EA-E9A9-BBD4-8036-7ED8750D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1C7EA-96B9-0925-D5D5-AE4FBB13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7226A-7A2D-F6BF-0D45-8CBB922F2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AA1D8-4779-317E-687B-8BD722BF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CDA09-B139-DFD1-F46D-CBCA0723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97B2C-265B-C447-3DD1-A19BFC97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89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FA52-5940-A007-A486-E11F1027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14C9-975F-4E3C-34B9-77738A8D2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1A5D6-7EE4-C837-04E2-B39C78381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EB049-B066-47F6-1631-DAC382C3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1F217-CCEF-A94D-E69B-D8BE4CF9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D8F64-9E47-8C6F-AEDF-A9545D27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62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5406-E7D4-AA5A-2AE1-C04D3913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A000F-E31A-5F9D-4F4C-60242B19C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C6EEE-48E3-9D34-2B38-2C1B272E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9BE93-4226-ADC0-EC58-CB26299F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89BC0-B414-5222-1B07-56AB4EB7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73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E0CA0-B5F8-AC51-8EC8-F8E31233C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C5472-72CC-0143-8B56-963D642F7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34E59-097C-BEE5-F33C-E9D60973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B7C87-186B-0862-AD40-67DF1828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74709-04F5-794F-25A0-1199FA7F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44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89821-AA82-69FB-A4CB-B765C80B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A631A-0520-5FE4-648B-A966B6EE6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332A4-793B-5301-D046-EDE21CCF8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3332B-27A9-4F63-9693-94CF182940A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B17DE-827D-B38A-27AB-6E81CAFE7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4A21A-88D7-F2C0-37B8-B6A3169E8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15649-C757-4799-B2A9-A5D72CD7D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58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60287-8485-58A3-A7FB-4D42AF8E7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916820"/>
          </a:xfrm>
        </p:spPr>
        <p:txBody>
          <a:bodyPr>
            <a:normAutofit/>
          </a:bodyPr>
          <a:lstStyle/>
          <a:p>
            <a:r>
              <a:rPr lang="en-IN" sz="6700" b="1" u="sng" dirty="0"/>
              <a:t>Search Campaign Optimization Report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7CBED-1C3C-B950-A426-1EDD23B29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09419"/>
            <a:ext cx="12192000" cy="3848580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IN" b="1" u="sng" dirty="0"/>
              <a:t>Campaign Objective:</a:t>
            </a:r>
          </a:p>
          <a:p>
            <a:pPr algn="l"/>
            <a:r>
              <a:rPr lang="en-IN" b="1" dirty="0"/>
              <a:t>Optimization:</a:t>
            </a:r>
            <a:r>
              <a:rPr lang="en-IN" dirty="0"/>
              <a:t> Shift the primary goal to </a:t>
            </a:r>
            <a:r>
              <a:rPr lang="en-IN" b="1" dirty="0"/>
              <a:t>Lead generation</a:t>
            </a:r>
            <a:r>
              <a:rPr lang="en-IN" dirty="0"/>
              <a:t> or </a:t>
            </a:r>
            <a:r>
              <a:rPr lang="en-IN" b="1" dirty="0"/>
              <a:t>Sales</a:t>
            </a:r>
            <a:r>
              <a:rPr lang="en-IN" dirty="0"/>
              <a:t>. Ensure conversion tracking is imported and set as the primary conversion action in Google Ads to feed smart bidding algorithms.</a:t>
            </a:r>
          </a:p>
          <a:p>
            <a:pPr algn="l"/>
            <a:endParaRPr lang="en-IN" dirty="0"/>
          </a:p>
          <a:p>
            <a:pPr algn="l"/>
            <a:r>
              <a:rPr lang="en-IN" b="1" u="sng" dirty="0"/>
              <a:t>2. Keyword Performance:</a:t>
            </a:r>
          </a:p>
          <a:p>
            <a:pPr algn="l"/>
            <a:r>
              <a:rPr lang="en-IN" b="1" dirty="0"/>
              <a:t>Optimization:</a:t>
            </a:r>
            <a:r>
              <a:rPr lang="en-IN" dirty="0"/>
              <a:t> Pause underperforming keywords with a high spend-to-conversion ratio. Shift to a </a:t>
            </a:r>
            <a:r>
              <a:rPr lang="en-IN" b="1" dirty="0"/>
              <a:t>Phrase and Exact Match</a:t>
            </a:r>
            <a:r>
              <a:rPr lang="en-IN" dirty="0"/>
              <a:t> strategy to ensure stronger, more relevant search intent.</a:t>
            </a:r>
          </a:p>
          <a:p>
            <a:pPr algn="l"/>
            <a:endParaRPr lang="en-IN" b="1" u="sng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27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C34F03-9DBE-3A14-EA47-3E4CF654DE7C}"/>
              </a:ext>
            </a:extLst>
          </p:cNvPr>
          <p:cNvSpPr txBox="1"/>
          <p:nvPr/>
        </p:nvSpPr>
        <p:spPr>
          <a:xfrm>
            <a:off x="92597" y="115746"/>
            <a:ext cx="12099403" cy="7594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400" b="1" u="sng" strike="noStrike" dirty="0">
                <a:effectLst/>
                <a:latin typeface="Google Sans"/>
              </a:rPr>
              <a:t>3. Negative Keyword Suggestions: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2400" b="1" dirty="0"/>
              <a:t>Optimization:</a:t>
            </a:r>
            <a:r>
              <a:rPr lang="en-IN" sz="2400" dirty="0"/>
              <a:t> Regularly pull the </a:t>
            </a:r>
            <a:r>
              <a:rPr lang="en-IN" sz="2400" b="1" dirty="0"/>
              <a:t>Search Terms Report</a:t>
            </a:r>
            <a:r>
              <a:rPr lang="en-IN" sz="2400" dirty="0"/>
              <a:t> to identify irrelevant queries. Add these to your campaign-level or </a:t>
            </a:r>
            <a:r>
              <a:rPr lang="en-IN" sz="2400" b="1" dirty="0"/>
              <a:t>Account-level Negative Keyword List</a:t>
            </a:r>
            <a:r>
              <a:rPr lang="en-IN" sz="2400" dirty="0"/>
              <a:t> immediately to prevent wasted ad spend.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2400" b="1" u="sng" dirty="0"/>
              <a:t>4. Ad Copy Improvements: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2400" b="1" dirty="0"/>
              <a:t>Optimization:</a:t>
            </a:r>
            <a:r>
              <a:rPr lang="en-IN" sz="2400" dirty="0"/>
              <a:t> Write highly compelling ad copy that aligns precisely with keyword intent. Ensure you have at least 3 active RSAs per ad group, with pinned, benefit-driven headlines. Implement all required </a:t>
            </a:r>
            <a:r>
              <a:rPr lang="en-IN" sz="2400" b="1" dirty="0"/>
              <a:t>Asset Extensions</a:t>
            </a:r>
            <a:r>
              <a:rPr lang="en-IN" sz="2400" dirty="0"/>
              <a:t> to increase the ad's footprint on the SERP.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2400" b="1" u="sng" dirty="0"/>
              <a:t>5. Budget Adjustments: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2400" b="1" dirty="0"/>
              <a:t>Optimization</a:t>
            </a:r>
            <a:r>
              <a:rPr lang="en-IN" b="1" dirty="0"/>
              <a:t>:</a:t>
            </a:r>
            <a:r>
              <a:rPr lang="en-IN" sz="2400" dirty="0"/>
              <a:t> Reallocate budget from underperforming ad groups to those flagged as "Limited by budget" but boasting a strong conversion rate. Use a </a:t>
            </a:r>
            <a:r>
              <a:rPr lang="en-IN" b="1" dirty="0"/>
              <a:t>Shared Budget</a:t>
            </a:r>
            <a:r>
              <a:rPr lang="en-IN" sz="2400" dirty="0"/>
              <a:t> across closely related campaigns to let Google distribute funds dynamically based on search demand.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endParaRPr lang="en-IN" sz="2400" b="1" u="sng" dirty="0"/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endParaRPr lang="en-IN" sz="1800" b="1" u="sng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05358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54A84-3D2D-5087-C29B-DAE4833EC48B}"/>
              </a:ext>
            </a:extLst>
          </p:cNvPr>
          <p:cNvSpPr txBox="1"/>
          <p:nvPr/>
        </p:nvSpPr>
        <p:spPr>
          <a:xfrm>
            <a:off x="92597" y="0"/>
            <a:ext cx="9141106" cy="775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400" b="1" u="sng" strike="noStrike" dirty="0">
                <a:effectLst/>
                <a:latin typeface="Google Sans"/>
              </a:rPr>
              <a:t>6. Bid Strategy Changes:</a:t>
            </a:r>
          </a:p>
          <a:p>
            <a:r>
              <a:rPr lang="en-IN" sz="2400" b="1" dirty="0"/>
              <a:t>Optimization:</a:t>
            </a:r>
            <a:r>
              <a:rPr lang="en-IN" sz="2400" dirty="0"/>
              <a:t> Switch to Google's </a:t>
            </a:r>
            <a:r>
              <a:rPr lang="en-IN" sz="2400" b="1" dirty="0"/>
              <a:t>Smart Bidding</a:t>
            </a:r>
            <a:r>
              <a:rPr lang="en-IN" sz="2400" dirty="0"/>
              <a:t>. Implement </a:t>
            </a:r>
            <a:r>
              <a:rPr lang="en-IN" sz="2400" b="1" dirty="0"/>
              <a:t>Target CPA</a:t>
            </a:r>
            <a:r>
              <a:rPr lang="en-IN" sz="2400" dirty="0"/>
              <a:t> to stabilize lead costs or </a:t>
            </a:r>
            <a:r>
              <a:rPr lang="en-IN" sz="2400" b="1" dirty="0"/>
              <a:t>Target ROAS</a:t>
            </a:r>
            <a:r>
              <a:rPr lang="en-IN" sz="2400" dirty="0"/>
              <a:t> if your campaign is e-commerce and tracking exact conversion values.</a:t>
            </a:r>
          </a:p>
          <a:p>
            <a:endParaRPr lang="en-IN" sz="2400" dirty="0"/>
          </a:p>
          <a:p>
            <a:r>
              <a:rPr lang="en-IN" sz="2400" b="1" u="sng" dirty="0"/>
              <a:t>7. Quality Score Analysis:</a:t>
            </a:r>
          </a:p>
          <a:p>
            <a:endParaRPr lang="en-IN" sz="2400" b="1" u="sng" dirty="0"/>
          </a:p>
          <a:p>
            <a:r>
              <a:rPr lang="en-IN" sz="2400" b="1" dirty="0"/>
              <a:t>Optimization:</a:t>
            </a:r>
            <a:r>
              <a:rPr lang="en-IN" sz="2400" dirty="0"/>
              <a:t> Improve QS by tightening keyword themes ensuring exact keyword insertion in ad headlines, and aligning landing page content with what the user searched for.</a:t>
            </a:r>
            <a:endParaRPr lang="en-IN" sz="2400" b="1" u="sng" dirty="0"/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2400" b="1" u="sng" dirty="0"/>
              <a:t>8. Expected Performance Improvements: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2400" b="1" dirty="0"/>
              <a:t>Expected Impact:</a:t>
            </a:r>
            <a:r>
              <a:rPr lang="en-IN" sz="2400" dirty="0"/>
              <a:t> By executing these optimizations, you can expect to see an increase in your CTR, a boosted Quality Score, a lower average CPC, and a significantly improved conversion rate, yielding a higher overall ROI.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endParaRPr lang="en-IN" sz="2400" b="1" u="sng" dirty="0"/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endParaRPr lang="en-IN" sz="2400" b="1" u="sng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732137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Google Sans</vt:lpstr>
      <vt:lpstr>Office Theme</vt:lpstr>
      <vt:lpstr>Search Campaign Optimization Report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2026-07-16T11:47:34Z</dcterms:created>
  <dcterms:modified xsi:type="dcterms:W3CDTF">2026-07-16T11:47:56Z</dcterms:modified>
</cp:coreProperties>
</file>