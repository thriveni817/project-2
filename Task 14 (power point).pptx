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7BBD3-073A-AD16-0F02-A199B4CAD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C281F8-6314-040E-C3A0-611026D5D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8CD4B9-F28E-CA4B-A628-9C552F424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4FF3-C37B-4714-94E7-45FE0E629E3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6EB92-01D9-AC27-3347-3CF78E602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97A894-FB41-2991-E6ED-79E11725F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7EB0-AF4F-49D6-BA43-C04A2FC8DF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160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C30CC-4DBD-07F1-AE9C-EB775919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BA9884-59D9-CFE2-822E-73EC5936B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9E9331-03EC-1856-9927-8A16EFF21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4FF3-C37B-4714-94E7-45FE0E629E3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E023-050D-8A41-E8A3-7F1D059B1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EE443A-E02E-0C7E-E7D5-0E33BEEB9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7EB0-AF4F-49D6-BA43-C04A2FC8DF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5931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0037B-4C5A-E474-1868-DBF327254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9D0A7A-51CC-058C-A9C9-91BB179CC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86159E-1E0D-4F17-9D2F-3862EB5FB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4FF3-C37B-4714-94E7-45FE0E629E3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D3B2B-4C9C-4D19-7199-8F3585C4F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B1975-38E5-01D7-C5F7-C73F6499F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7EB0-AF4F-49D6-BA43-C04A2FC8DF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538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28C0F-D0F6-C810-66DA-79D4B44DF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B9BFD-9352-C1E9-2247-EDB409923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D4A8F-4F2E-53FA-B437-180C76C239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771BEB-D262-3C9B-7590-5D2409BE1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4FF3-C37B-4714-94E7-45FE0E629E3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CE7ADD-37D8-2D8C-9852-D1752091A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48961F-2ACB-9940-D1DF-2FBABE665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7EB0-AF4F-49D6-BA43-C04A2FC8DF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26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4C022-E4DC-90AB-4C44-15E45E5C6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630850-9515-9D35-21A5-300E127515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D1A8FC-D4C5-7974-E8F5-CAEE0A81FE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46D46C-A7DD-14FC-3657-B3C069AD06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6B14C8-8936-A454-DD36-B9497DF9B3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B2D767-FD79-C711-7298-B7829950A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4FF3-C37B-4714-94E7-45FE0E629E3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0DE94C-EE63-CFB5-F798-E53753FCA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A2021E-B782-D0B4-B314-918B7D8B3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7EB0-AF4F-49D6-BA43-C04A2FC8DF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234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0746B-C623-7FFC-1F72-A507D899F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B15DA1-B15F-6082-CA91-BF1CA5A22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4FF3-C37B-4714-94E7-45FE0E629E3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C14C3A-034A-A7D8-60FA-29A8C5DB1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C6D8B4-2EFE-68D5-8A82-0CE2CB01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7EB0-AF4F-49D6-BA43-C04A2FC8DF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58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CF35A-724A-5414-06DB-D64A47E2E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4FF3-C37B-4714-94E7-45FE0E629E3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AF77B1-A3D2-5DBA-61E9-3C14044B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79F72-3A6E-6B7E-36A8-6395BF7A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7EB0-AF4F-49D6-BA43-C04A2FC8DF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115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7594B0-7E88-AA1C-A9B4-56DB182F8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370E0-5B1B-C0CE-5C2D-D2B0A06A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C22402-723D-32BF-ECBF-DBEAE9FB8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860DF7-4EAC-DF0E-AE80-99A15E3B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4FF3-C37B-4714-94E7-45FE0E629E3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000F13-0A19-5FEE-83B8-E16AD733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F3B1BD-F004-3458-D7EC-EB963FB4C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7EB0-AF4F-49D6-BA43-C04A2FC8DF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9129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C41E-FA78-C78C-C995-70B98796DC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63CC98-0991-66F6-EF5B-55627D316F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C3D333-29D0-C81F-3C0A-DFF0B9C83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A57D4-BC06-DE95-0646-F2EA24288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4FF3-C37B-4714-94E7-45FE0E629E3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2F0371-6968-046A-B1A1-4CAADB43B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AB3D1-FE33-93D4-7E74-E3A693A38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7EB0-AF4F-49D6-BA43-C04A2FC8DF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3676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05044-F6DC-CC19-A86B-A6C048F5A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45FBF8-E188-3253-FF4B-1FBFDB400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0BBCFE-1C3A-6D85-6ABE-28CAA7087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4FF3-C37B-4714-94E7-45FE0E629E3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FFE09-D652-56A2-2B3C-5670AD278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0E0E2-AD3E-61A1-A36F-D5C532874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7EB0-AF4F-49D6-BA43-C04A2FC8DF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774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936811-3891-B959-0771-6F4E2F602C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ECCC93-4447-303A-DD36-C10A2CFF9B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3ADEE-8E2C-44C1-CE83-8B51C5E3A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4FF3-C37B-4714-94E7-45FE0E629E3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1DFC3-8B7D-D2E2-DC8A-F8C13C567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FED246-F6D7-39A6-0D31-6EFB57A06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CB7EB0-AF4F-49D6-BA43-C04A2FC8DF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7746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DB022A-EA2E-1687-8EAF-4416175F4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E0724-4960-0709-6C75-BEB888195F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78675-012E-5BA4-38A6-7C9B9F87B7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74FF3-C37B-4714-94E7-45FE0E629E38}" type="datetimeFigureOut">
              <a:rPr lang="en-IN" smtClean="0"/>
              <a:t>09-07-2026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D6A39-1D83-5214-5F6D-C1439CFFC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B8F8F-BDA1-500C-FB99-84E3D00252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CB7EB0-AF4F-49D6-BA43-C04A2FC8DF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291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earch.google.com/search-console/about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D9A7E3-9A76-E8B8-E8EB-07F3E4ED6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u="sng" dirty="0"/>
              <a:t>Local SEO Strategy Outline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ECAF350-8E7D-A319-A73F-066CA827F8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sz="3200" b="1" u="sng" dirty="0"/>
              <a:t>Executive Summary &amp; Objectives</a:t>
            </a:r>
          </a:p>
          <a:p>
            <a:r>
              <a:rPr lang="en-IN" b="1" dirty="0"/>
              <a:t>Business:</a:t>
            </a:r>
            <a:r>
              <a:rPr lang="en-IN" dirty="0"/>
              <a:t> Yashwanth's Lotus Dental Care, Ayodhya Nagar, Vijayawada.</a:t>
            </a:r>
          </a:p>
          <a:p>
            <a:r>
              <a:rPr lang="en-IN" b="1" dirty="0"/>
              <a:t>Primary Goals:</a:t>
            </a:r>
            <a:r>
              <a:rPr lang="en-IN" dirty="0"/>
              <a:t> Increase foot traffic for local procedures (Root Canal Treatment, Braces, Dental Implants), establish 5-star digital authority, and dominate Google Maps for the keyword "best dentist in Vijayawada".</a:t>
            </a:r>
          </a:p>
          <a:p>
            <a:r>
              <a:rPr lang="en-IN" b="1" dirty="0"/>
              <a:t>Core Value Proposition:</a:t>
            </a:r>
            <a:r>
              <a:rPr lang="en-IN" dirty="0"/>
              <a:t> Painless dental care by MDS-qualified specialists utilizing modern equipment.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094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CF7660F-56F8-9D6F-A31F-6E1A74058F54}"/>
              </a:ext>
            </a:extLst>
          </p:cNvPr>
          <p:cNvSpPr txBox="1"/>
          <p:nvPr/>
        </p:nvSpPr>
        <p:spPr>
          <a:xfrm>
            <a:off x="104172" y="138896"/>
            <a:ext cx="12192000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>
              <a:spcBef>
                <a:spcPts val="1800"/>
              </a:spcBef>
              <a:spcAft>
                <a:spcPts val="900"/>
              </a:spcAft>
            </a:pPr>
            <a:r>
              <a:rPr lang="en-IN" sz="3200" b="1" u="sng" strike="noStrike" dirty="0">
                <a:effectLst/>
                <a:latin typeface="Google Sans"/>
              </a:rPr>
              <a:t>2. Google Business Profile (GBP) Optimization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1" u="none" strike="noStrike" dirty="0">
                <a:effectLst/>
                <a:latin typeface="Google Sans"/>
              </a:rPr>
              <a:t>Profile Completeness</a:t>
            </a:r>
            <a:r>
              <a:rPr lang="en-IN" sz="2800" u="none" strike="noStrike" dirty="0">
                <a:effectLst/>
                <a:latin typeface="Google Sans"/>
              </a:rPr>
              <a:t>: Ensure absolute consistency across your Name, Address, Phone number (NAP) details.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1" u="none" strike="noStrike" dirty="0">
                <a:effectLst/>
                <a:latin typeface="Google Sans"/>
              </a:rPr>
              <a:t>Category Mapping</a:t>
            </a:r>
            <a:r>
              <a:rPr lang="en-IN" sz="2800" u="none" strike="noStrike" dirty="0">
                <a:effectLst/>
                <a:latin typeface="Google Sans"/>
              </a:rPr>
              <a:t>: Set "Dentist" as the primary category, with secondary tags for "Dental Clinic," "Cosmetic Dentist," and "Dental Implants".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1" u="none" strike="noStrike" dirty="0">
                <a:effectLst/>
                <a:latin typeface="Google Sans"/>
              </a:rPr>
              <a:t>Media &amp; Products: </a:t>
            </a:r>
            <a:r>
              <a:rPr lang="en-IN" sz="2800" u="none" strike="noStrike" dirty="0">
                <a:effectLst/>
                <a:latin typeface="Google Sans"/>
              </a:rPr>
              <a:t>Upload 20+ high-quality photos (clinic interior, sterilization areas, smiling patients, and the specialized MDS doctors).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1" u="none" strike="noStrike" dirty="0">
                <a:effectLst/>
                <a:latin typeface="Google Sans"/>
              </a:rPr>
              <a:t>Offerings/Attributes: </a:t>
            </a:r>
            <a:r>
              <a:rPr lang="en-IN" sz="2800" u="none" strike="noStrike" dirty="0">
                <a:effectLst/>
                <a:latin typeface="Google Sans"/>
              </a:rPr>
              <a:t>Add service descriptions and pricing information to the "Products &amp; Services" tab to enhance conversion rates</a:t>
            </a:r>
            <a:r>
              <a:rPr lang="en-IN" sz="1200" u="none" strike="noStrike" dirty="0">
                <a:effectLst/>
                <a:latin typeface="Google Sans"/>
              </a:rPr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6765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FF634E-F928-B677-94B2-BD0701B9BE5B}"/>
              </a:ext>
            </a:extLst>
          </p:cNvPr>
          <p:cNvSpPr txBox="1"/>
          <p:nvPr/>
        </p:nvSpPr>
        <p:spPr>
          <a:xfrm>
            <a:off x="104172" y="81023"/>
            <a:ext cx="9036934" cy="51552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3200" b="1" u="sng" strike="noStrike" dirty="0">
                <a:effectLst/>
                <a:latin typeface="Google Sans"/>
              </a:rPr>
              <a:t>3</a:t>
            </a:r>
            <a:r>
              <a:rPr lang="en-IN" sz="3200" b="1" u="sng" dirty="0">
                <a:latin typeface="Google Sans"/>
              </a:rPr>
              <a:t>.</a:t>
            </a:r>
            <a:r>
              <a:rPr lang="en-IN" sz="3200" b="1" u="sng" strike="noStrike" dirty="0">
                <a:effectLst/>
                <a:latin typeface="Google Sans"/>
              </a:rPr>
              <a:t> On-Page &amp; Technical SEO Plan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1" u="none" strike="noStrike" dirty="0">
                <a:effectLst/>
                <a:latin typeface="Google Sans"/>
              </a:rPr>
              <a:t>Localized Content:</a:t>
            </a:r>
            <a:r>
              <a:rPr lang="en-IN" sz="2800" b="0" u="none" strike="noStrike" dirty="0">
                <a:effectLst/>
                <a:latin typeface="Google Sans"/>
              </a:rPr>
              <a:t> Build highly specific location pages targeting terms like </a:t>
            </a:r>
            <a:r>
              <a:rPr lang="en-IN" sz="2800" b="0" i="1" u="none" strike="noStrike" dirty="0">
                <a:effectLst/>
                <a:latin typeface="Google Sans"/>
              </a:rPr>
              <a:t>"Root Canal Treatment in Vijayawada"</a:t>
            </a:r>
            <a:r>
              <a:rPr lang="en-IN" sz="2800" b="0" u="none" strike="noStrike" dirty="0">
                <a:effectLst/>
                <a:latin typeface="Google Sans"/>
              </a:rPr>
              <a:t> and </a:t>
            </a:r>
            <a:r>
              <a:rPr lang="en-IN" sz="2800" b="0" i="1" u="none" strike="noStrike" dirty="0">
                <a:effectLst/>
                <a:latin typeface="Google Sans"/>
              </a:rPr>
              <a:t>"Dental Implants near Ayodhya Nagar"</a:t>
            </a:r>
            <a:r>
              <a:rPr lang="en-IN" sz="2800" b="0" u="none" strike="noStrike" dirty="0">
                <a:effectLst/>
                <a:latin typeface="Google Sans"/>
              </a:rPr>
              <a:t>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1" u="none" strike="noStrike" dirty="0">
                <a:effectLst/>
                <a:latin typeface="Google Sans"/>
              </a:rPr>
              <a:t>Schema Markup:</a:t>
            </a:r>
            <a:r>
              <a:rPr lang="en-IN" sz="2800" b="0" u="none" strike="noStrike" dirty="0">
                <a:effectLst/>
                <a:latin typeface="Google Sans"/>
              </a:rPr>
              <a:t> Implement </a:t>
            </a:r>
            <a:r>
              <a:rPr lang="en-IN" sz="2800" b="0" u="none" strike="noStrike" dirty="0">
                <a:effectLst/>
                <a:latin typeface="Courier New" panose="02070309020205020404" pitchFamily="49" charset="0"/>
              </a:rPr>
              <a:t>Dentist</a:t>
            </a:r>
            <a:r>
              <a:rPr lang="en-IN" sz="2800" b="0" u="none" strike="noStrike" dirty="0">
                <a:effectLst/>
                <a:latin typeface="Google Sans"/>
              </a:rPr>
              <a:t> and </a:t>
            </a:r>
            <a:r>
              <a:rPr lang="en-IN" sz="2800" b="0" u="none" strike="noStrike" dirty="0" err="1">
                <a:effectLst/>
                <a:latin typeface="Courier New" panose="02070309020205020404" pitchFamily="49" charset="0"/>
              </a:rPr>
              <a:t>LocalBusiness</a:t>
            </a:r>
            <a:r>
              <a:rPr lang="en-IN" sz="2800" b="0" u="none" strike="noStrike" dirty="0">
                <a:effectLst/>
                <a:latin typeface="Google Sans"/>
              </a:rPr>
              <a:t> Schema Markup on the Lotus Dental Care homepage to feed rich snippet data directly to Google.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1" u="none" strike="noStrike" dirty="0">
                <a:effectLst/>
                <a:latin typeface="Google Sans"/>
              </a:rPr>
              <a:t>Mobile Responsiveness:</a:t>
            </a:r>
            <a:r>
              <a:rPr lang="en-IN" sz="2800" b="0" u="none" strike="noStrike" dirty="0">
                <a:effectLst/>
                <a:latin typeface="Google Sans"/>
              </a:rPr>
              <a:t> Ensure the website loads in under 3 seconds and is perfectly functional for mobile device bookings.</a:t>
            </a:r>
          </a:p>
        </p:txBody>
      </p:sp>
    </p:spTree>
    <p:extLst>
      <p:ext uri="{BB962C8B-B14F-4D97-AF65-F5344CB8AC3E}">
        <p14:creationId xmlns:p14="http://schemas.microsoft.com/office/powerpoint/2010/main" val="1880719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125688-D88D-B49B-8201-132430E23EC1}"/>
              </a:ext>
            </a:extLst>
          </p:cNvPr>
          <p:cNvSpPr txBox="1"/>
          <p:nvPr/>
        </p:nvSpPr>
        <p:spPr>
          <a:xfrm>
            <a:off x="0" y="0"/>
            <a:ext cx="9141106" cy="552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2800" b="1" u="sng" strike="noStrike" dirty="0">
                <a:effectLst/>
                <a:latin typeface="Google Sans"/>
              </a:rPr>
              <a:t>4</a:t>
            </a:r>
            <a:r>
              <a:rPr lang="en-IN" sz="2800" b="1" u="sng" dirty="0">
                <a:latin typeface="Google Sans"/>
              </a:rPr>
              <a:t>. </a:t>
            </a:r>
            <a:r>
              <a:rPr lang="en-IN" sz="2800" b="1" u="sng" strike="noStrike" dirty="0">
                <a:effectLst/>
                <a:latin typeface="Google Sans"/>
              </a:rPr>
              <a:t> Review Generation &amp; Reputation Management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1" u="none" strike="noStrike" dirty="0">
                <a:effectLst/>
                <a:latin typeface="Google Sans"/>
              </a:rPr>
              <a:t>Automated Requests:</a:t>
            </a:r>
            <a:r>
              <a:rPr lang="en-IN" sz="2800" b="0" u="none" strike="noStrike" dirty="0">
                <a:effectLst/>
                <a:latin typeface="Google Sans"/>
              </a:rPr>
              <a:t> Set up an automated SMS and WhatsApp post-appointment system to request reviews from satisfied patients.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1" u="none" strike="noStrike" dirty="0">
                <a:effectLst/>
                <a:latin typeface="Google Sans"/>
              </a:rPr>
              <a:t>Review Response Strategy:</a:t>
            </a:r>
            <a:r>
              <a:rPr lang="en-IN" sz="2800" b="0" u="none" strike="noStrike" dirty="0">
                <a:effectLst/>
                <a:latin typeface="Google Sans"/>
              </a:rPr>
              <a:t> Task a team member to respond to </a:t>
            </a:r>
            <a:r>
              <a:rPr lang="en-IN" sz="2800" b="1" u="none" strike="noStrike" dirty="0">
                <a:effectLst/>
                <a:latin typeface="Google Sans"/>
              </a:rPr>
              <a:t>every</a:t>
            </a:r>
            <a:r>
              <a:rPr lang="en-IN" sz="2800" b="0" u="none" strike="noStrike" dirty="0">
                <a:effectLst/>
                <a:latin typeface="Google Sans"/>
              </a:rPr>
              <a:t> review using localized keywords (e.g., </a:t>
            </a:r>
            <a:r>
              <a:rPr lang="en-IN" sz="2800" b="0" i="1" u="none" strike="noStrike" dirty="0">
                <a:effectLst/>
                <a:latin typeface="Google Sans"/>
              </a:rPr>
              <a:t>"Thank you for trusting Lotus Dental for your dental implant, we love seeing our Ayodhya Nagar patients smile!"</a:t>
            </a:r>
            <a:r>
              <a:rPr lang="en-IN" sz="2800" b="0" u="none" strike="noStrike" dirty="0">
                <a:effectLst/>
                <a:latin typeface="Google Sans"/>
              </a:rPr>
              <a:t>).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2800" b="1" u="none" strike="noStrike" dirty="0">
                <a:effectLst/>
                <a:latin typeface="Google Sans"/>
              </a:rPr>
              <a:t>Q&amp;A Section:</a:t>
            </a:r>
            <a:r>
              <a:rPr lang="en-IN" sz="2800" b="0" u="none" strike="noStrike" dirty="0">
                <a:effectLst/>
                <a:latin typeface="Google Sans"/>
              </a:rPr>
              <a:t> Pre-populate the GBP "Questions &amp; Answers" section with queries about pain levels, insurance (EHS/WJHS), and operating hours.</a:t>
            </a:r>
          </a:p>
        </p:txBody>
      </p:sp>
    </p:spTree>
    <p:extLst>
      <p:ext uri="{BB962C8B-B14F-4D97-AF65-F5344CB8AC3E}">
        <p14:creationId xmlns:p14="http://schemas.microsoft.com/office/powerpoint/2010/main" val="4057542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FC9A5D-4E99-EEFA-926A-C9A6A2CCE582}"/>
              </a:ext>
            </a:extLst>
          </p:cNvPr>
          <p:cNvSpPr txBox="1"/>
          <p:nvPr/>
        </p:nvSpPr>
        <p:spPr>
          <a:xfrm>
            <a:off x="0" y="0"/>
            <a:ext cx="9141106" cy="53399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4000" b="1" u="sng" strike="noStrike" dirty="0">
                <a:effectLst/>
                <a:latin typeface="Google Sans"/>
              </a:rPr>
              <a:t>5</a:t>
            </a:r>
            <a:r>
              <a:rPr lang="en-IN" sz="4000" b="1" u="sng" dirty="0">
                <a:latin typeface="Google Sans"/>
              </a:rPr>
              <a:t>. </a:t>
            </a:r>
            <a:r>
              <a:rPr lang="en-IN" sz="4000" b="1" u="sng" strike="noStrike" dirty="0">
                <a:effectLst/>
                <a:latin typeface="Google Sans"/>
              </a:rPr>
              <a:t> Citations &amp; Local Link Building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3200" b="1" u="none" strike="noStrike" dirty="0">
                <a:effectLst/>
                <a:latin typeface="Google Sans"/>
              </a:rPr>
              <a:t>NAP Consistency:</a:t>
            </a:r>
            <a:r>
              <a:rPr lang="en-IN" sz="3200" b="0" u="none" strike="noStrike" dirty="0">
                <a:effectLst/>
                <a:latin typeface="Google Sans"/>
              </a:rPr>
              <a:t> Audit and update Justdial, </a:t>
            </a:r>
            <a:r>
              <a:rPr lang="en-IN" sz="3200" b="0" u="none" strike="noStrike" dirty="0" err="1">
                <a:effectLst/>
                <a:latin typeface="Google Sans"/>
              </a:rPr>
              <a:t>Practo</a:t>
            </a:r>
            <a:r>
              <a:rPr lang="en-IN" sz="3200" b="0" u="none" strike="noStrike" dirty="0">
                <a:effectLst/>
                <a:latin typeface="Google Sans"/>
              </a:rPr>
              <a:t>, and Yelp profiles to ensure they mirror the main site.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3200" b="1" u="none" strike="noStrike" dirty="0">
                <a:effectLst/>
                <a:latin typeface="Google Sans"/>
              </a:rPr>
              <a:t>Local PR &amp; Backlinks:</a:t>
            </a:r>
            <a:r>
              <a:rPr lang="en-IN" sz="3200" b="0" u="none" strike="noStrike" dirty="0">
                <a:effectLst/>
                <a:latin typeface="Google Sans"/>
              </a:rPr>
              <a:t> Sponsor or collaborate with local businesses and housing societies (e.g., Lotus Landmark) to secure valuable local backlinks.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3200" b="1" u="none" strike="noStrike" dirty="0">
                <a:effectLst/>
                <a:latin typeface="Google Sans"/>
              </a:rPr>
              <a:t>Health Schemes:</a:t>
            </a:r>
            <a:r>
              <a:rPr lang="en-IN" sz="3200" b="0" u="none" strike="noStrike" dirty="0">
                <a:effectLst/>
                <a:latin typeface="Google Sans"/>
              </a:rPr>
              <a:t> Highlight affiliations with the Employee Health Scheme (EHS) and WJHS to capture targeted organic search queries.</a:t>
            </a:r>
          </a:p>
        </p:txBody>
      </p:sp>
    </p:spTree>
    <p:extLst>
      <p:ext uri="{BB962C8B-B14F-4D97-AF65-F5344CB8AC3E}">
        <p14:creationId xmlns:p14="http://schemas.microsoft.com/office/powerpoint/2010/main" val="2544539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AE6B4C-3B5A-7E06-4D52-52A87ADCF461}"/>
              </a:ext>
            </a:extLst>
          </p:cNvPr>
          <p:cNvSpPr txBox="1"/>
          <p:nvPr/>
        </p:nvSpPr>
        <p:spPr>
          <a:xfrm>
            <a:off x="0" y="0"/>
            <a:ext cx="9141106" cy="57092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3200" b="1" u="sng" strike="noStrike" dirty="0">
                <a:effectLst/>
                <a:latin typeface="Google Sans"/>
              </a:rPr>
              <a:t>6</a:t>
            </a:r>
            <a:r>
              <a:rPr lang="en-IN" sz="3200" b="1" u="sng" dirty="0">
                <a:latin typeface="Google Sans"/>
              </a:rPr>
              <a:t>. </a:t>
            </a:r>
            <a:r>
              <a:rPr lang="en-IN" sz="3200" b="1" u="sng" strike="noStrike" dirty="0">
                <a:effectLst/>
                <a:latin typeface="Google Sans"/>
              </a:rPr>
              <a:t> Social Media &amp; Local Engagement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3200" b="1" u="none" strike="noStrike" dirty="0">
                <a:effectLst/>
                <a:latin typeface="Google Sans"/>
              </a:rPr>
              <a:t>Educational Posts:</a:t>
            </a:r>
            <a:r>
              <a:rPr lang="en-IN" sz="3200" b="0" u="none" strike="noStrike" dirty="0">
                <a:effectLst/>
                <a:latin typeface="Google Sans"/>
              </a:rPr>
              <a:t> Publish regular updates answering frequently asked questions (e.g., "Myth vs. Truth: Brushing twice a day," "When to get a root canal").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3200" b="1" u="none" strike="noStrike" dirty="0">
                <a:effectLst/>
                <a:latin typeface="Google Sans"/>
              </a:rPr>
              <a:t>Geo-Tagging:</a:t>
            </a:r>
            <a:r>
              <a:rPr lang="en-IN" sz="3200" b="0" u="none" strike="noStrike" dirty="0">
                <a:effectLst/>
                <a:latin typeface="Google Sans"/>
              </a:rPr>
              <a:t> Use hyper-local geo-tags on Instagram and Facebook posts to increase regional visibility.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3200" b="1" u="none" strike="noStrike" dirty="0">
                <a:effectLst/>
                <a:latin typeface="Google Sans"/>
              </a:rPr>
              <a:t>Offers:</a:t>
            </a:r>
            <a:r>
              <a:rPr lang="en-IN" sz="3200" b="0" u="none" strike="noStrike" dirty="0">
                <a:effectLst/>
                <a:latin typeface="Google Sans"/>
              </a:rPr>
              <a:t> Promote limited-time offers, such as free consultations or teeth-whitening discounts, directly through Google Business Profile Posts</a:t>
            </a:r>
          </a:p>
        </p:txBody>
      </p:sp>
    </p:spTree>
    <p:extLst>
      <p:ext uri="{BB962C8B-B14F-4D97-AF65-F5344CB8AC3E}">
        <p14:creationId xmlns:p14="http://schemas.microsoft.com/office/powerpoint/2010/main" val="11117306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E90B27-D995-A279-B92F-D33CA7D4BEE7}"/>
              </a:ext>
            </a:extLst>
          </p:cNvPr>
          <p:cNvSpPr txBox="1"/>
          <p:nvPr/>
        </p:nvSpPr>
        <p:spPr>
          <a:xfrm>
            <a:off x="0" y="0"/>
            <a:ext cx="9141106" cy="57708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800"/>
              </a:spcBef>
              <a:spcAft>
                <a:spcPts val="900"/>
              </a:spcAft>
              <a:buNone/>
            </a:pPr>
            <a:r>
              <a:rPr lang="en-IN" sz="3600" b="1" u="sng" strike="noStrike" dirty="0">
                <a:effectLst/>
                <a:latin typeface="Google Sans"/>
              </a:rPr>
              <a:t>7</a:t>
            </a:r>
            <a:r>
              <a:rPr lang="en-IN" sz="3600" b="1" u="sng" dirty="0">
                <a:latin typeface="Google Sans"/>
              </a:rPr>
              <a:t>. </a:t>
            </a:r>
            <a:r>
              <a:rPr lang="en-IN" sz="3600" b="1" u="sng" strike="noStrike" dirty="0">
                <a:effectLst/>
                <a:latin typeface="Google Sans"/>
              </a:rPr>
              <a:t> KPIs &amp; Performance Tracking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3200" b="1" u="none" strike="noStrike" dirty="0">
                <a:effectLst/>
                <a:latin typeface="Google Sans"/>
              </a:rPr>
              <a:t>Google Maps Insights: Track 'Calls', 'Website Actions', and 'Direction Requests' on a monthly basis.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3200" b="1" u="none" strike="noStrike" dirty="0">
                <a:effectLst/>
                <a:latin typeface="Google Sans"/>
              </a:rPr>
              <a:t>Rank Tracking: Monitor local SERP movement for tier-1 keywords using tools like </a:t>
            </a:r>
            <a:r>
              <a:rPr lang="en-IN" sz="3200" b="1" u="none" strike="noStrike" dirty="0">
                <a:effectLst/>
                <a:latin typeface="Google Sans"/>
                <a:hlinkClick r:id="rId2"/>
              </a:rPr>
              <a:t>Google Search Console</a:t>
            </a:r>
            <a:r>
              <a:rPr lang="en-IN" sz="3200" b="1" u="none" strike="noStrike" dirty="0">
                <a:effectLst/>
                <a:latin typeface="Google Sans"/>
              </a:rPr>
              <a:t> and </a:t>
            </a:r>
            <a:r>
              <a:rPr lang="en-IN" sz="3200" b="1" u="none" strike="noStrike" dirty="0" err="1">
                <a:effectLst/>
                <a:latin typeface="Google Sans"/>
              </a:rPr>
              <a:t>Semrush</a:t>
            </a:r>
            <a:r>
              <a:rPr lang="en-IN" sz="3200" b="1" u="none" strike="noStrike" dirty="0">
                <a:effectLst/>
                <a:latin typeface="Google Sans"/>
              </a:rPr>
              <a:t>.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Font typeface="Arial" panose="020B0604020202020204" pitchFamily="34" charset="0"/>
              <a:buChar char="•"/>
            </a:pPr>
            <a:r>
              <a:rPr lang="en-IN" sz="3200" b="1" u="none" strike="noStrike" dirty="0">
                <a:effectLst/>
                <a:latin typeface="Google Sans"/>
              </a:rPr>
              <a:t>Conversion Rate: Measure overall booked appointments from organic digital traffic to determine ROI.</a:t>
            </a:r>
          </a:p>
        </p:txBody>
      </p:sp>
    </p:spTree>
    <p:extLst>
      <p:ext uri="{BB962C8B-B14F-4D97-AF65-F5344CB8AC3E}">
        <p14:creationId xmlns:p14="http://schemas.microsoft.com/office/powerpoint/2010/main" val="2132606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564</Words>
  <Application>Microsoft Office PowerPoint</Application>
  <PresentationFormat>Widescreen</PresentationFormat>
  <Paragraphs>30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Google Sans</vt:lpstr>
      <vt:lpstr>Office Theme</vt:lpstr>
      <vt:lpstr>Local SEO Strategy 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AAKULA TEJESH</dc:creator>
  <cp:lastModifiedBy>AAKULA TEJESH</cp:lastModifiedBy>
  <cp:revision>1</cp:revision>
  <dcterms:created xsi:type="dcterms:W3CDTF">2026-07-09T11:28:36Z</dcterms:created>
  <dcterms:modified xsi:type="dcterms:W3CDTF">2026-07-09T11:46:24Z</dcterms:modified>
</cp:coreProperties>
</file>