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55" d="100"/>
          <a:sy n="55" d="100"/>
        </p:scale>
        <p:origin x="1096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6F5D44-0120-CDCB-D118-001DCE684FA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28036F7-D321-4CDE-F13A-FC7F04FF22B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EDB34C-AD23-C440-EC5E-AD379D3325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F45B5A-5652-43D2-B2C8-EE4CFD353126}" type="datetimeFigureOut">
              <a:rPr lang="en-IN" smtClean="0"/>
              <a:t>14-07-2026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B28534-157C-9246-FFA2-576E5D8D6E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41873C-5486-8D0B-6D18-C10338C15D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6B8D5B-43B4-4A53-96B5-69FE7350F82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210153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CE94FC-D7ED-8AD8-9255-721A31B6BD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52E840-B6A8-A44B-0336-2350BEAB59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03AF48-1F30-9190-5D62-7D309F6568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F45B5A-5652-43D2-B2C8-EE4CFD353126}" type="datetimeFigureOut">
              <a:rPr lang="en-IN" smtClean="0"/>
              <a:t>14-07-2026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633F63-A193-3DBA-C7CA-0E313BDD4E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35D76C-3377-326F-2BB8-D49B73632A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6B8D5B-43B4-4A53-96B5-69FE7350F82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944107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48B3F3-7C80-77CB-7723-FF6EB0ECAC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9545104-CCEB-111E-EC64-AE4B6CD3C7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1D4E1F-C4CE-435C-D4E1-8D9838BA4D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F45B5A-5652-43D2-B2C8-EE4CFD353126}" type="datetimeFigureOut">
              <a:rPr lang="en-IN" smtClean="0"/>
              <a:t>14-07-2026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CFA516-9F05-CFFD-3E5A-E715DA394D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FE982E-03BD-9E7C-9738-4C4B912EC5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6B8D5B-43B4-4A53-96B5-69FE7350F82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450847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C516AC-42A4-F1E4-F07C-EE2F12843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3B3F21-692E-C5D1-DE4B-4EA1AEB3AE3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C91A34A-9A5F-467B-8B7B-96B680C53E6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2966B21-320F-6295-F79E-BDBC9679D5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F45B5A-5652-43D2-B2C8-EE4CFD353126}" type="datetimeFigureOut">
              <a:rPr lang="en-IN" smtClean="0"/>
              <a:t>14-07-2026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260B81-FA0B-5B76-B6E7-2C90973B16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FC3EEDD-3D99-410C-F3B4-90567662A0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6B8D5B-43B4-4A53-96B5-69FE7350F82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897930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01B9D6-7D8B-43AA-F950-7CDE476AA3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9F5615D-4AD7-5974-DEF4-67EEB5BADF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7CD7E22-FA50-75C8-AB2B-396B161B345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99A9D84-BC2D-9D83-CB8B-BCE65F3AC5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EC1143D-E112-8E55-CAD4-725DA25A918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E7F719E-D5E3-911A-FB5D-9E3D1FBF80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F45B5A-5652-43D2-B2C8-EE4CFD353126}" type="datetimeFigureOut">
              <a:rPr lang="en-IN" smtClean="0"/>
              <a:t>14-07-2026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0B2E187-9E6D-3570-624B-F2ED1A333B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4371BBC-1F36-E7B1-0EC9-43392334DC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6B8D5B-43B4-4A53-96B5-69FE7350F82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485634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4ADB96-DB35-22E3-C005-809B47A8EE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69B5EB9-C640-437D-A027-F11D094188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F45B5A-5652-43D2-B2C8-EE4CFD353126}" type="datetimeFigureOut">
              <a:rPr lang="en-IN" smtClean="0"/>
              <a:t>14-07-2026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8E8CE03-A50C-EC54-3345-0DA3BFC9F1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FA56A78-963A-A772-7278-91B6CA343F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6B8D5B-43B4-4A53-96B5-69FE7350F82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619987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E968F35-7BF7-DC59-DECE-A4D63DC454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F45B5A-5652-43D2-B2C8-EE4CFD353126}" type="datetimeFigureOut">
              <a:rPr lang="en-IN" smtClean="0"/>
              <a:t>14-07-2026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54FB2C7-BA16-135B-2814-716374E999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31DBB7-C263-5435-E850-AC587F696D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6B8D5B-43B4-4A53-96B5-69FE7350F82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733324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8EE529-733E-D341-8232-3D5D0CC045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788E90-990A-6B5D-99B5-E988EF646A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AE2AE87-2C5C-B6CA-0E2F-91801FFCC4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AE10F19-DDC6-C01C-42B5-BB71D0F9DF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F45B5A-5652-43D2-B2C8-EE4CFD353126}" type="datetimeFigureOut">
              <a:rPr lang="en-IN" smtClean="0"/>
              <a:t>14-07-2026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F9F86CB-0C16-92F2-B01F-721E269164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336122B-FDD4-5017-E7AC-EBF5374F19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6B8D5B-43B4-4A53-96B5-69FE7350F82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062987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970569-5C2D-538B-1E63-E5DC09094D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533D9BD-A5E4-4E2D-F2A7-5502A1C3F14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783F151-F90D-1616-7D55-9332D576E9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29B2E13-1D57-A034-7D64-BB5B18245E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F45B5A-5652-43D2-B2C8-EE4CFD353126}" type="datetimeFigureOut">
              <a:rPr lang="en-IN" smtClean="0"/>
              <a:t>14-07-2026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3A1341-7B70-0C09-CCDD-9979C4B32A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4773C5D-4BA2-684C-A598-42D01A1F44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6B8D5B-43B4-4A53-96B5-69FE7350F82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586501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C41387-2DD9-C596-D965-B6FB22395C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6603E90-13EE-EEB5-7587-C2601DCB3FF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257FC0-77C9-CD52-22DA-6FECA84BD3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F45B5A-5652-43D2-B2C8-EE4CFD353126}" type="datetimeFigureOut">
              <a:rPr lang="en-IN" smtClean="0"/>
              <a:t>14-07-2026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C0E742-C5AA-1984-A698-376058FBD7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90F430-4854-E46F-2F29-5D954176BD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6B8D5B-43B4-4A53-96B5-69FE7350F82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733459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FFB4A24-D515-9977-E676-4792FC8DA64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FD78D44-7202-B053-63C3-F56703F74CA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A6E4F2-8CED-2035-01E5-46FCA5E6EB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F45B5A-5652-43D2-B2C8-EE4CFD353126}" type="datetimeFigureOut">
              <a:rPr lang="en-IN" smtClean="0"/>
              <a:t>14-07-2026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BFB39D-DD4B-752A-2DAA-83A32B212D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12039E-3B18-BF84-B12F-DFA2C1A8C7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6B8D5B-43B4-4A53-96B5-69FE7350F82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524893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CC3EDF9-CBA2-5FB4-802F-4D62F2E197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25E7D5-F211-FEB6-6272-FECDDFCB1B6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06CCB4-7B9A-8BAC-61F2-329A3E214AB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DF45B5A-5652-43D2-B2C8-EE4CFD353126}" type="datetimeFigureOut">
              <a:rPr lang="en-IN" smtClean="0"/>
              <a:t>14-07-2026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3A42C2-55B2-FB77-F4F6-0940BBB42FF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92A23B-93BC-9325-1D9D-6A6A41B7E48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16B8D5B-43B4-4A53-96B5-69FE7350F82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490126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552144-8DB6-0F58-30F6-3CFEC0C3C8A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-231493"/>
            <a:ext cx="12192000" cy="2268638"/>
          </a:xfrm>
        </p:spPr>
        <p:txBody>
          <a:bodyPr>
            <a:normAutofit/>
          </a:bodyPr>
          <a:lstStyle/>
          <a:p>
            <a:r>
              <a:rPr lang="en-IN" b="1" u="sng" dirty="0"/>
              <a:t>Google Tag Manager (GTM) Event Tracking Plan: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20D1332-1FE8-4D24-D0FC-829BC659976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-1" y="2037145"/>
            <a:ext cx="12191999" cy="4820855"/>
          </a:xfrm>
        </p:spPr>
        <p:txBody>
          <a:bodyPr>
            <a:normAutofit/>
          </a:bodyPr>
          <a:lstStyle/>
          <a:p>
            <a:r>
              <a:rPr lang="en-IN" b="1" u="sng" dirty="0"/>
              <a:t>1. Contact Form Submission</a:t>
            </a:r>
          </a:p>
          <a:p>
            <a:pPr marL="342900" indent="-342900" algn="l">
              <a:buFont typeface="Wingdings" panose="05000000000000000000" pitchFamily="2" charset="2"/>
              <a:buChar char="v"/>
            </a:pPr>
            <a:r>
              <a:rPr lang="en-IN" b="1" dirty="0"/>
              <a:t>Trigger Type:</a:t>
            </a:r>
            <a:r>
              <a:rPr lang="en-IN" dirty="0"/>
              <a:t> Form Submission</a:t>
            </a:r>
          </a:p>
          <a:p>
            <a:pPr marL="342900" indent="-342900" algn="l">
              <a:buFont typeface="Wingdings" panose="05000000000000000000" pitchFamily="2" charset="2"/>
              <a:buChar char="v"/>
            </a:pPr>
            <a:r>
              <a:rPr lang="en-IN" b="1" dirty="0"/>
              <a:t>Trigger Condition:</a:t>
            </a:r>
            <a:r>
              <a:rPr lang="en-IN" dirty="0"/>
              <a:t> Form ID </a:t>
            </a:r>
            <a:r>
              <a:rPr lang="en-IN" i="1" dirty="0"/>
              <a:t>equals</a:t>
            </a:r>
            <a:r>
              <a:rPr lang="en-IN" dirty="0"/>
              <a:t> </a:t>
            </a:r>
            <a:r>
              <a:rPr lang="en-IN" sz="1800" dirty="0"/>
              <a:t>contact-form</a:t>
            </a:r>
            <a:r>
              <a:rPr lang="en-IN" dirty="0"/>
              <a:t> (or use Form URL / Classes specific to your site)</a:t>
            </a:r>
          </a:p>
          <a:p>
            <a:pPr marL="342900" indent="-342900" algn="l">
              <a:buFont typeface="Wingdings" panose="05000000000000000000" pitchFamily="2" charset="2"/>
              <a:buChar char="v"/>
            </a:pPr>
            <a:r>
              <a:rPr lang="en-IN" b="1" dirty="0"/>
              <a:t>Tag Type:</a:t>
            </a:r>
            <a:r>
              <a:rPr lang="en-IN" dirty="0"/>
              <a:t> Google Analytics: GA4 Event</a:t>
            </a:r>
          </a:p>
          <a:p>
            <a:r>
              <a:rPr lang="en-IN" b="1" u="sng" dirty="0"/>
              <a:t>2. Phone Number Click</a:t>
            </a:r>
          </a:p>
          <a:p>
            <a:pPr marL="342900" indent="-342900" algn="l">
              <a:buFont typeface="Wingdings" panose="05000000000000000000" pitchFamily="2" charset="2"/>
              <a:buChar char="v"/>
            </a:pPr>
            <a:r>
              <a:rPr lang="en-IN" b="1" dirty="0"/>
              <a:t>Trigger Type:</a:t>
            </a:r>
            <a:r>
              <a:rPr lang="en-IN" dirty="0"/>
              <a:t> Just Clicks (All Elements) </a:t>
            </a:r>
          </a:p>
          <a:p>
            <a:pPr marL="342900" indent="-342900" algn="l">
              <a:buFont typeface="Wingdings" panose="05000000000000000000" pitchFamily="2" charset="2"/>
              <a:buChar char="v"/>
            </a:pPr>
            <a:r>
              <a:rPr lang="en-IN" b="1" dirty="0"/>
              <a:t>Trigger Condition:</a:t>
            </a:r>
            <a:r>
              <a:rPr lang="en-IN" dirty="0"/>
              <a:t> Click URL </a:t>
            </a:r>
            <a:r>
              <a:rPr lang="en-IN" i="1" dirty="0"/>
              <a:t>starts with</a:t>
            </a:r>
            <a:r>
              <a:rPr lang="en-IN" dirty="0"/>
              <a:t> </a:t>
            </a:r>
            <a:r>
              <a:rPr lang="en-IN" dirty="0" err="1"/>
              <a:t>tel</a:t>
            </a:r>
            <a:r>
              <a:rPr lang="en-IN" dirty="0"/>
              <a:t>: </a:t>
            </a:r>
          </a:p>
          <a:p>
            <a:pPr marL="342900" indent="-342900" algn="l">
              <a:buFont typeface="Wingdings" panose="05000000000000000000" pitchFamily="2" charset="2"/>
              <a:buChar char="v"/>
            </a:pPr>
            <a:r>
              <a:rPr lang="en-IN" b="1" dirty="0"/>
              <a:t>Tag Type:</a:t>
            </a:r>
            <a:r>
              <a:rPr lang="en-IN" dirty="0"/>
              <a:t> Google Analytics: GA4 Event</a:t>
            </a:r>
            <a:endParaRPr lang="en-IN" b="1" u="sng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586958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96B58B50-7374-302C-DEB6-588D900B6462}"/>
              </a:ext>
            </a:extLst>
          </p:cNvPr>
          <p:cNvSpPr txBox="1"/>
          <p:nvPr/>
        </p:nvSpPr>
        <p:spPr>
          <a:xfrm>
            <a:off x="0" y="81023"/>
            <a:ext cx="12192000" cy="58169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ctr">
              <a:spcBef>
                <a:spcPts val="1800"/>
              </a:spcBef>
              <a:spcAft>
                <a:spcPts val="900"/>
              </a:spcAft>
              <a:buNone/>
            </a:pPr>
            <a:r>
              <a:rPr lang="en-IN" sz="2400" b="1" u="sng" strike="noStrike" dirty="0">
                <a:effectLst/>
                <a:latin typeface="Google Sans"/>
              </a:rPr>
              <a:t>3. WhatsApp Button Click</a:t>
            </a:r>
          </a:p>
          <a:p>
            <a:pPr marL="342900" marR="0" indent="-342900">
              <a:spcBef>
                <a:spcPts val="900"/>
              </a:spcBef>
              <a:spcAft>
                <a:spcPts val="900"/>
              </a:spcAft>
              <a:buFont typeface="Wingdings" panose="05000000000000000000" pitchFamily="2" charset="2"/>
              <a:buChar char="v"/>
            </a:pPr>
            <a:r>
              <a:rPr lang="en-IN" sz="2400" b="1" u="none" strike="noStrike" dirty="0">
                <a:effectLst/>
              </a:rPr>
              <a:t>Trigger Type:</a:t>
            </a:r>
            <a:r>
              <a:rPr lang="en-IN" sz="2400" b="0" u="none" strike="noStrike" dirty="0">
                <a:effectLst/>
              </a:rPr>
              <a:t> Just Clicks (All Elements) </a:t>
            </a:r>
          </a:p>
          <a:p>
            <a:pPr marL="342900" marR="0" indent="-342900">
              <a:spcBef>
                <a:spcPts val="900"/>
              </a:spcBef>
              <a:spcAft>
                <a:spcPts val="900"/>
              </a:spcAft>
              <a:buFont typeface="Wingdings" panose="05000000000000000000" pitchFamily="2" charset="2"/>
              <a:buChar char="v"/>
            </a:pPr>
            <a:r>
              <a:rPr lang="en-IN" sz="2400" b="1" u="none" strike="noStrike" dirty="0">
                <a:effectLst/>
              </a:rPr>
              <a:t>Trigger Condition:</a:t>
            </a:r>
            <a:r>
              <a:rPr lang="en-IN" sz="2400" b="0" u="none" strike="noStrike" dirty="0">
                <a:effectLst/>
              </a:rPr>
              <a:t> Click URL </a:t>
            </a:r>
            <a:r>
              <a:rPr lang="en-IN" sz="2400" b="0" i="1" u="none" strike="noStrike" dirty="0">
                <a:effectLst/>
              </a:rPr>
              <a:t>contains</a:t>
            </a:r>
            <a:r>
              <a:rPr lang="en-IN" sz="2400" b="0" u="none" strike="noStrike" dirty="0">
                <a:effectLst/>
              </a:rPr>
              <a:t> wa.me or ://whatsapp.com </a:t>
            </a:r>
          </a:p>
          <a:p>
            <a:pPr marL="342900" marR="0" indent="-342900">
              <a:spcBef>
                <a:spcPts val="900"/>
              </a:spcBef>
              <a:spcAft>
                <a:spcPts val="900"/>
              </a:spcAft>
              <a:buFont typeface="Wingdings" panose="05000000000000000000" pitchFamily="2" charset="2"/>
              <a:buChar char="v"/>
            </a:pPr>
            <a:r>
              <a:rPr lang="en-IN" sz="2400" b="1" u="none" strike="noStrike" dirty="0">
                <a:effectLst/>
              </a:rPr>
              <a:t>Tag Type:</a:t>
            </a:r>
            <a:r>
              <a:rPr lang="en-IN" sz="2400" b="0" u="none" strike="noStrike" dirty="0">
                <a:effectLst/>
              </a:rPr>
              <a:t> Google Analytics: GA4 Event </a:t>
            </a:r>
          </a:p>
          <a:p>
            <a:pPr algn="ctr"/>
            <a:r>
              <a:rPr lang="en-IN" sz="2400" b="1" u="sng" dirty="0"/>
              <a:t>4. Newsletter Subscription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IN" sz="2400" b="1" dirty="0"/>
              <a:t>Trigger Type:</a:t>
            </a:r>
            <a:r>
              <a:rPr lang="en-IN" sz="2400" dirty="0"/>
              <a:t> Form Submission 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IN" sz="2400" b="1" dirty="0"/>
              <a:t>Trigger Condition:</a:t>
            </a:r>
            <a:r>
              <a:rPr lang="en-IN" sz="2400" dirty="0"/>
              <a:t> Form ID </a:t>
            </a:r>
            <a:r>
              <a:rPr lang="en-IN" sz="2400" i="1" dirty="0"/>
              <a:t>equals</a:t>
            </a:r>
            <a:r>
              <a:rPr lang="en-IN" sz="2400" dirty="0"/>
              <a:t> newsletter-form 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IN" sz="2400" b="1" dirty="0"/>
              <a:t>Tag Type:</a:t>
            </a:r>
            <a:r>
              <a:rPr lang="en-IN" sz="2400" dirty="0"/>
              <a:t> Google Analytics: GA4 Event </a:t>
            </a:r>
          </a:p>
          <a:p>
            <a:pPr algn="ctr"/>
            <a:r>
              <a:rPr lang="en-IN" sz="2400" b="1" u="sng" dirty="0"/>
              <a:t>5. PDF Download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IN" sz="2400" b="1" dirty="0"/>
              <a:t>Trigger Type:</a:t>
            </a:r>
            <a:r>
              <a:rPr lang="en-IN" sz="2400" dirty="0"/>
              <a:t> Just Clicks (All Elements) 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IN" sz="2400" b="1" dirty="0"/>
              <a:t>Trigger Condition:</a:t>
            </a:r>
            <a:r>
              <a:rPr lang="en-IN" sz="2400" dirty="0"/>
              <a:t> Click URL </a:t>
            </a:r>
            <a:r>
              <a:rPr lang="en-IN" sz="2400" i="1" dirty="0"/>
              <a:t>ends with</a:t>
            </a:r>
            <a:r>
              <a:rPr lang="en-IN" sz="2400" dirty="0"/>
              <a:t> .pdf (Use regex match \.pdf$ for accuracy)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IN" sz="2400" b="1" dirty="0"/>
              <a:t>Tag Type:</a:t>
            </a:r>
            <a:r>
              <a:rPr lang="en-IN" sz="2400" dirty="0"/>
              <a:t> Google Analytics: GA4 Event </a:t>
            </a:r>
          </a:p>
          <a:p>
            <a:pPr marR="0">
              <a:spcBef>
                <a:spcPts val="900"/>
              </a:spcBef>
              <a:spcAft>
                <a:spcPts val="900"/>
              </a:spcAft>
            </a:pPr>
            <a:endParaRPr lang="en-IN" sz="2400" b="0" u="none" strike="noStrike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6324050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146AE98-0B38-30EA-6252-C68FC5BA9E61}"/>
              </a:ext>
            </a:extLst>
          </p:cNvPr>
          <p:cNvSpPr txBox="1"/>
          <p:nvPr/>
        </p:nvSpPr>
        <p:spPr>
          <a:xfrm>
            <a:off x="0" y="0"/>
            <a:ext cx="12192000" cy="63017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ctr">
              <a:spcBef>
                <a:spcPts val="1800"/>
              </a:spcBef>
              <a:spcAft>
                <a:spcPts val="900"/>
              </a:spcAft>
              <a:buNone/>
            </a:pPr>
            <a:r>
              <a:rPr lang="en-IN" sz="2400" b="1" u="sng" strike="noStrike" dirty="0">
                <a:effectLst/>
                <a:latin typeface="Google Sans"/>
              </a:rPr>
              <a:t>6. Scroll Depth (25%, 50%, 75%, 100%) </a:t>
            </a:r>
            <a:endParaRPr lang="en-IN" sz="2400" b="1" u="sng" dirty="0">
              <a:latin typeface="Google Sans"/>
            </a:endParaRPr>
          </a:p>
          <a:p>
            <a:pPr marL="342900" marR="0" indent="-342900">
              <a:spcBef>
                <a:spcPts val="1800"/>
              </a:spcBef>
              <a:spcAft>
                <a:spcPts val="900"/>
              </a:spcAft>
              <a:buFont typeface="Wingdings" panose="05000000000000000000" pitchFamily="2" charset="2"/>
              <a:buChar char="v"/>
            </a:pPr>
            <a:r>
              <a:rPr lang="en-IN" sz="2400" b="1" u="none" strike="noStrike" dirty="0">
                <a:effectLst/>
              </a:rPr>
              <a:t>Trigger Type:</a:t>
            </a:r>
            <a:r>
              <a:rPr lang="en-IN" sz="2400" b="0" u="none" strike="noStrike" dirty="0">
                <a:effectLst/>
              </a:rPr>
              <a:t> Scroll Depth</a:t>
            </a:r>
          </a:p>
          <a:p>
            <a:pPr marL="342900" marR="0" indent="-342900">
              <a:spcBef>
                <a:spcPts val="900"/>
              </a:spcBef>
              <a:spcAft>
                <a:spcPts val="900"/>
              </a:spcAft>
              <a:buFont typeface="Wingdings" panose="05000000000000000000" pitchFamily="2" charset="2"/>
              <a:buChar char="v"/>
            </a:pPr>
            <a:r>
              <a:rPr lang="en-IN" sz="2400" b="1" u="none" strike="noStrike" dirty="0">
                <a:effectLst/>
              </a:rPr>
              <a:t>Trigger Condition:</a:t>
            </a:r>
            <a:r>
              <a:rPr lang="en-IN" sz="2400" b="0" u="none" strike="noStrike" dirty="0">
                <a:effectLst/>
              </a:rPr>
              <a:t> Vertical Scroll Depths </a:t>
            </a:r>
            <a:r>
              <a:rPr lang="en-IN" sz="2400" b="0" i="1" u="none" strike="noStrike" dirty="0">
                <a:effectLst/>
              </a:rPr>
              <a:t>equals</a:t>
            </a:r>
            <a:r>
              <a:rPr lang="en-IN" sz="2400" b="0" u="none" strike="noStrike" dirty="0">
                <a:effectLst/>
              </a:rPr>
              <a:t> 25, 50, 75, 100</a:t>
            </a:r>
          </a:p>
          <a:p>
            <a:pPr marL="342900" marR="0" indent="-342900">
              <a:spcBef>
                <a:spcPts val="900"/>
              </a:spcBef>
              <a:spcAft>
                <a:spcPts val="900"/>
              </a:spcAft>
              <a:buFont typeface="Wingdings" panose="05000000000000000000" pitchFamily="2" charset="2"/>
              <a:buChar char="v"/>
            </a:pPr>
            <a:r>
              <a:rPr lang="en-IN" sz="2400" b="1" u="none" strike="noStrike" dirty="0">
                <a:effectLst/>
              </a:rPr>
              <a:t>Tag Type:</a:t>
            </a:r>
            <a:r>
              <a:rPr lang="en-IN" sz="2400" b="0" u="none" strike="noStrike" dirty="0">
                <a:effectLst/>
              </a:rPr>
              <a:t> Google Analytics: GA4 Event </a:t>
            </a:r>
          </a:p>
          <a:p>
            <a:pPr algn="ctr"/>
            <a:r>
              <a:rPr lang="en-IN" sz="2400" b="1" u="sng" dirty="0"/>
              <a:t>7. Contact Page Visit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IN" sz="2400" b="1" dirty="0"/>
              <a:t>Trigger Type:</a:t>
            </a:r>
            <a:r>
              <a:rPr lang="en-IN" sz="2400" dirty="0"/>
              <a:t> Page View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IN" sz="2400" b="1" dirty="0"/>
              <a:t>Trigger Condition:</a:t>
            </a:r>
            <a:r>
              <a:rPr lang="en-IN" sz="2400" dirty="0"/>
              <a:t> Page Path </a:t>
            </a:r>
            <a:r>
              <a:rPr lang="en-IN" sz="2400" i="1" dirty="0"/>
              <a:t>equals</a:t>
            </a:r>
            <a:r>
              <a:rPr lang="en-IN" sz="2400" dirty="0"/>
              <a:t> /contact/ or /contact-us/ 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IN" sz="2400" b="1" dirty="0"/>
              <a:t>Tag Type:</a:t>
            </a:r>
            <a:r>
              <a:rPr lang="en-IN" sz="2400" dirty="0"/>
              <a:t> Google Analytics: GA4 Event </a:t>
            </a:r>
          </a:p>
          <a:p>
            <a:pPr algn="ctr"/>
            <a:r>
              <a:rPr lang="en-IN" sz="2400" b="1" u="sng" dirty="0"/>
              <a:t>8. Quote Request Submission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IN" sz="2400" b="1" dirty="0"/>
              <a:t>Trigger Type:</a:t>
            </a:r>
            <a:r>
              <a:rPr lang="en-IN" sz="2400" dirty="0"/>
              <a:t> Form Submission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IN" sz="2400" b="1" dirty="0"/>
              <a:t>Trigger Condition:</a:t>
            </a:r>
            <a:r>
              <a:rPr lang="en-IN" sz="2400" dirty="0"/>
              <a:t> Form ID </a:t>
            </a:r>
            <a:r>
              <a:rPr lang="en-IN" sz="2400" i="1" dirty="0"/>
              <a:t>equals</a:t>
            </a:r>
            <a:r>
              <a:rPr lang="en-IN" sz="2400" dirty="0"/>
              <a:t> quote-form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IN" sz="2400" b="1" dirty="0"/>
              <a:t>Tag Type:</a:t>
            </a:r>
            <a:r>
              <a:rPr lang="en-IN" sz="2400" dirty="0"/>
              <a:t> Google Analytics: GA4 Event 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endParaRPr lang="en-IN" sz="2400" dirty="0"/>
          </a:p>
          <a:p>
            <a:pPr marL="342900" marR="0" indent="-342900">
              <a:spcBef>
                <a:spcPts val="900"/>
              </a:spcBef>
              <a:spcAft>
                <a:spcPts val="900"/>
              </a:spcAft>
              <a:buFont typeface="Wingdings" panose="05000000000000000000" pitchFamily="2" charset="2"/>
              <a:buChar char="v"/>
            </a:pPr>
            <a:endParaRPr lang="en-IN" sz="2400" b="0" u="none" strike="noStrike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15733307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6204850-0E2C-02D7-C8CA-5F2D409BEE1B}"/>
              </a:ext>
            </a:extLst>
          </p:cNvPr>
          <p:cNvSpPr txBox="1"/>
          <p:nvPr/>
        </p:nvSpPr>
        <p:spPr>
          <a:xfrm>
            <a:off x="115747" y="104172"/>
            <a:ext cx="9025359" cy="22621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ctr">
              <a:spcBef>
                <a:spcPts val="1800"/>
              </a:spcBef>
              <a:spcAft>
                <a:spcPts val="900"/>
              </a:spcAft>
              <a:buNone/>
            </a:pPr>
            <a:r>
              <a:rPr lang="en-IN" sz="2400" b="1" u="sng" strike="noStrike" dirty="0">
                <a:effectLst/>
                <a:latin typeface="Google Sans"/>
              </a:rPr>
              <a:t>9. Thank You Page Visit</a:t>
            </a:r>
          </a:p>
          <a:p>
            <a:pPr marL="342900" marR="0" indent="-342900">
              <a:spcBef>
                <a:spcPts val="900"/>
              </a:spcBef>
              <a:spcAft>
                <a:spcPts val="900"/>
              </a:spcAft>
              <a:buFont typeface="Wingdings" panose="05000000000000000000" pitchFamily="2" charset="2"/>
              <a:buChar char="v"/>
            </a:pPr>
            <a:r>
              <a:rPr lang="en-IN" sz="2400" b="1" u="none" strike="noStrike" dirty="0">
                <a:effectLst/>
              </a:rPr>
              <a:t>Trigger Type:</a:t>
            </a:r>
            <a:r>
              <a:rPr lang="en-IN" sz="2400" b="0" u="none" strike="noStrike" dirty="0">
                <a:effectLst/>
              </a:rPr>
              <a:t> Page View </a:t>
            </a:r>
          </a:p>
          <a:p>
            <a:pPr marL="342900" marR="0" indent="-342900">
              <a:spcBef>
                <a:spcPts val="900"/>
              </a:spcBef>
              <a:spcAft>
                <a:spcPts val="900"/>
              </a:spcAft>
              <a:buFont typeface="Wingdings" panose="05000000000000000000" pitchFamily="2" charset="2"/>
              <a:buChar char="v"/>
            </a:pPr>
            <a:r>
              <a:rPr lang="en-IN" sz="2400" b="1" u="none" strike="noStrike" dirty="0">
                <a:effectLst/>
              </a:rPr>
              <a:t>Trigger Condition:</a:t>
            </a:r>
            <a:r>
              <a:rPr lang="en-IN" sz="2400" b="0" u="none" strike="noStrike" dirty="0">
                <a:effectLst/>
              </a:rPr>
              <a:t> Page Path </a:t>
            </a:r>
            <a:r>
              <a:rPr lang="en-IN" sz="2400" b="0" i="1" u="none" strike="noStrike" dirty="0">
                <a:effectLst/>
              </a:rPr>
              <a:t>contains</a:t>
            </a:r>
            <a:r>
              <a:rPr lang="en-IN" sz="2400" b="0" u="none" strike="noStrike" dirty="0">
                <a:effectLst/>
              </a:rPr>
              <a:t> thank-you </a:t>
            </a:r>
          </a:p>
          <a:p>
            <a:pPr marL="342900" marR="0" indent="-342900">
              <a:spcBef>
                <a:spcPts val="900"/>
              </a:spcBef>
              <a:spcAft>
                <a:spcPts val="900"/>
              </a:spcAft>
              <a:buFont typeface="Wingdings" panose="05000000000000000000" pitchFamily="2" charset="2"/>
              <a:buChar char="v"/>
            </a:pPr>
            <a:r>
              <a:rPr lang="en-IN" sz="2400" b="1" u="none" strike="noStrike" dirty="0">
                <a:effectLst/>
              </a:rPr>
              <a:t>Tag Type:</a:t>
            </a:r>
            <a:r>
              <a:rPr lang="en-IN" sz="2400" b="0" u="none" strike="noStrike" dirty="0">
                <a:effectLst/>
              </a:rPr>
              <a:t> Google Analytics: GA4 Event </a:t>
            </a:r>
          </a:p>
        </p:txBody>
      </p:sp>
    </p:spTree>
    <p:extLst>
      <p:ext uri="{BB962C8B-B14F-4D97-AF65-F5344CB8AC3E}">
        <p14:creationId xmlns:p14="http://schemas.microsoft.com/office/powerpoint/2010/main" val="283164303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300</Words>
  <Application>Microsoft Office PowerPoint</Application>
  <PresentationFormat>Widescreen</PresentationFormat>
  <Paragraphs>37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10" baseType="lpstr">
      <vt:lpstr>Arial</vt:lpstr>
      <vt:lpstr>Calibri</vt:lpstr>
      <vt:lpstr>Calibri Light</vt:lpstr>
      <vt:lpstr>Google Sans</vt:lpstr>
      <vt:lpstr>Wingdings</vt:lpstr>
      <vt:lpstr>Office Theme</vt:lpstr>
      <vt:lpstr>Google Tag Manager (GTM) Event Tracking Plan: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AAKULA TEJESH</dc:creator>
  <cp:lastModifiedBy>AAKULA TEJESH</cp:lastModifiedBy>
  <cp:revision>1</cp:revision>
  <dcterms:created xsi:type="dcterms:W3CDTF">2026-07-14T13:22:42Z</dcterms:created>
  <dcterms:modified xsi:type="dcterms:W3CDTF">2026-07-14T13:22:53Z</dcterms:modified>
</cp:coreProperties>
</file>